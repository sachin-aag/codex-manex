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d9b493514741d1" /><Relationship Type="http://schemas.openxmlformats.org/officeDocument/2006/relationships/extended-properties" Target="/docProps/app.xml" Id="R94100ef41f214876" /><Relationship Type="http://schemas.openxmlformats.org/officeDocument/2006/relationships/officeDocument" Target="/ppt/presentation.xml" Id="R78db82e0350747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440fd363ba4728"/>
  </p:sldMasterIdLst>
  <p:notesMasterIdLst>
    <p:notesMasterId xmlns:r="http://schemas.openxmlformats.org/officeDocument/2006/relationships" r:id="Rfb7d62f47c1b461c"/>
  </p:notesMasterIdLst>
  <p:sldIdLst>
    <p:sldId xmlns:r="http://schemas.openxmlformats.org/officeDocument/2006/relationships" id="256" r:id="R1664b9768a924b6d"/>
    <p:sldId xmlns:r="http://schemas.openxmlformats.org/officeDocument/2006/relationships" id="257" r:id="Rb2de0d4bac844312"/>
    <p:sldId xmlns:r="http://schemas.openxmlformats.org/officeDocument/2006/relationships" id="258" r:id="R74deb11e63e0481d"/>
    <p:sldId xmlns:r="http://schemas.openxmlformats.org/officeDocument/2006/relationships" id="259" r:id="Rc5e9c29db54049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40fd363ba4728" /><Relationship Type="http://schemas.openxmlformats.org/officeDocument/2006/relationships/theme" Target="/ppt/theme/theme1.xml" Id="Rf6eeb6bf131048b1" /><Relationship Type="http://schemas.openxmlformats.org/officeDocument/2006/relationships/notesMaster" Target="/ppt/notesMasters/notesMaster1.xml" Id="Rfb7d62f47c1b461c" /><Relationship Type="http://schemas.openxmlformats.org/officeDocument/2006/relationships/presProps" Target="/ppt/presProps.xml" Id="Rce1a3485f97c4e0f" /><Relationship Type="http://schemas.openxmlformats.org/officeDocument/2006/relationships/viewProps" Target="/ppt/viewProps.xml" Id="R621c604df6ce475c" /><Relationship Type="http://schemas.openxmlformats.org/officeDocument/2006/relationships/tableStyles" Target="/ppt/tableStyles.xml" Id="Rf8f6d5b73ee74ec5" /><Relationship Type="http://schemas.openxmlformats.org/officeDocument/2006/relationships/slide" Target="/ppt/slides/slide1.xml" Id="R1664b9768a924b6d" /><Relationship Type="http://schemas.openxmlformats.org/officeDocument/2006/relationships/slide" Target="/ppt/slides/slide2.xml" Id="Rb2de0d4bac844312" /><Relationship Type="http://schemas.openxmlformats.org/officeDocument/2006/relationships/slide" Target="/ppt/slides/slide3.xml" Id="R74deb11e63e0481d" /><Relationship Type="http://schemas.openxmlformats.org/officeDocument/2006/relationships/slide" Target="/ppt/slides/slide4.xml" Id="Rc5e9c29db54049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226a876480743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88864da99a483b" /><Relationship Type="http://schemas.openxmlformats.org/officeDocument/2006/relationships/notesMaster" Target="/ppt/notesMasters/notesMaster1.xml" Id="R0ed3235ea4e741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6ee94ea7c24679" /><Relationship Type="http://schemas.openxmlformats.org/officeDocument/2006/relationships/notesMaster" Target="/ppt/notesMasters/notesMaster1.xml" Id="R74cbff05362747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7d577c7c3e48fb" /><Relationship Type="http://schemas.openxmlformats.org/officeDocument/2006/relationships/notesMaster" Target="/ppt/notesMasters/notesMaster1.xml" Id="R11e759b5c06c4e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a28e650ad24643" /><Relationship Type="http://schemas.openxmlformats.org/officeDocument/2006/relationships/notesMaster" Target="/ppt/notesMasters/notesMaster1.xml" Id="Raf2e473a2b3f4b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e74a196846455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5564515C-C077-4DDA-B0A6-ED5C17C5C8D5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AEB90DC9-220B-41AB-9490-4FE4AE52E77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320C0E-7314-4447-82D1-76FC9E3FBD1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884F85-CACE-4C7D-B11C-98327AD5061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CD061C-2C02-4C7B-BFCC-DB3118E7CE8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a0e5ad0f5c04908" /><Relationship Type="http://schemas.openxmlformats.org/officeDocument/2006/relationships/slideLayout" Target="/ppt/slideLayouts/slideLayout2.xml" Id="R99430be4074e43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7513FD-11F6-4FA1-B2F3-2FADF0FB675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430be4074e43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5557d7b75841cf" /><Relationship Type="http://schemas.openxmlformats.org/officeDocument/2006/relationships/notesSlide" Target="/ppt/notesSlides/notesSlide1.xml" Id="R607eb543b4884b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6037db3fee4496" /><Relationship Type="http://schemas.openxmlformats.org/officeDocument/2006/relationships/notesSlide" Target="/ppt/notesSlides/notesSlide2.xml" Id="R02a58b16846540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c3719cdb94483b" /><Relationship Type="http://schemas.openxmlformats.org/officeDocument/2006/relationships/notesSlide" Target="/ppt/notesSlides/notesSlide3.xml" Id="Rf256a01ceb1640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fd439a71034773" /><Relationship Type="http://schemas.openxmlformats.org/officeDocument/2006/relationships/notesSlide" Target="/ppt/notesSlides/notesSlide4.xml" Id="R9807c08ba082405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CD061C-2C02-4C7B-BFCC-DB3118E7CE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6B2B4-071C-43D7-8094-73E67AE7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solidFill>
              <a:srgbClr val="F5F7F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6813E-2FB6-45AC-8BF3-C72DA664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1087100" cy="6057900"/>
          </a:xfrm>
          <a:prstGeom xmlns:a="http://schemas.openxmlformats.org/drawingml/2006/main" prst="roundRect">
            <a:avLst>
              <a:gd name="adj" fmla="val 1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06088-16FC-469E-AEE3-84A92826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10871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6F7F7"/>
          </a:solidFill>
          <a:ln xmlns:a="http://schemas.openxmlformats.org/drawingml/2006/main" w="0">
            <a:solidFill>
              <a:srgbClr val="E6F7F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6E2F2-7ABB-44C3-8EBC-98CC3402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66750"/>
            <a:ext cx="17335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2F1"/>
          </a:solidFill>
          <a:ln xmlns:a="http://schemas.openxmlformats.org/drawingml/2006/main" w="0">
            <a:solidFill>
              <a:srgbClr val="D6F2F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CAA23-737B-4841-BA7D-4DBDEACD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143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FDF64-C98F-443A-8F66-1BD204BB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C0824-EDDC-43FA-BB96-40BB07D1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361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A0E47-EBE5-44F6-83A5-D0B446A6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706F"/>
                </a:solidFill>
              </a:defRPr>
            </a:pPr>
            <a:r>
              <a:rPr sz="1650" b="1">
                <a:solidFill>
                  <a:srgbClr val="0B706F"/>
                </a:solidFill>
              </a:rPr>
              <a:t>Qontrol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2BDEB-5F75-4023-B480-10369199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Weekly CEO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F091B-7B1C-439F-8D79-6D2452D9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Executive quality snapshot for Apr 13 - Apr 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5F6D7-6D65-46EA-952B-0ADD4D22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143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D317C-E222-4520-BDC3-131D6CD7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Generated Apr 19, 2026, 7:00 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926D4-F5FB-477B-8E26-BA6AB7A0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F"/>
                </a:solidFill>
              </a:defRPr>
            </a:pPr>
            <a:r>
              <a:rPr sz="1200" b="0">
                <a:solidFill>
                  <a:srgbClr val="52616F"/>
                </a:solidFill>
              </a:rPr>
              <a:t>Prepared for the weekly executive quality review. This deck combines the live open-ticket portfolio with seeded context where historical closure data is still sparse.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4714E-E045-40BD-8E99-D57A8B1F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AFF36-33E7-4168-AFB4-25C97A26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16F"/>
                </a:solidFill>
              </a:defRPr>
            </a:pPr>
            <a:r>
              <a:rPr sz="1050" b="1">
                <a:solidFill>
                  <a:srgbClr val="52616F"/>
                </a:solidFill>
              </a:rPr>
              <a:t>Open tickets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03B2C-7A9F-4D36-AE74-616F45F6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054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</a:defRPr>
            </a:pPr>
            <a:r>
              <a:rPr sz="2400" b="1">
                <a:solidFill>
                  <a:srgbClr val="17212B"/>
                </a:solidFill>
              </a:rPr>
              <a:t>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C6BC1A-5AAE-47B1-9A0D-CC2116F2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291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A96E1-1DC0-46B2-B1CD-1BF7D250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19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16F"/>
                </a:solidFill>
              </a:defRPr>
            </a:pPr>
            <a:r>
              <a:rPr sz="1050" b="1">
                <a:solidFill>
                  <a:srgbClr val="52616F"/>
                </a:solidFill>
              </a:rPr>
              <a:t>High severity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DD1D66-CDC8-448E-A8BA-7378BD3E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054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</a:defRPr>
            </a:pPr>
            <a:r>
              <a:rPr sz="2400" b="1">
                <a:solidFill>
                  <a:srgbClr val="17212B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0E5AD-DDEF-49B8-AC77-E322215C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291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B38844-9E53-4FD2-8D26-1AA6BE38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19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16F"/>
                </a:solidFill>
              </a:defRPr>
            </a:pPr>
            <a:r>
              <a:rPr sz="1050" b="1">
                <a:solidFill>
                  <a:srgbClr val="52616F"/>
                </a:solidFill>
              </a:rPr>
              <a:t>Overdue follow-up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3472DB-18FC-485D-B6E4-4D83F7C0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1054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</a:defRPr>
            </a:pPr>
            <a:r>
              <a:rPr sz="2400" b="1">
                <a:solidFill>
                  <a:srgbClr val="17212B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DC382-A49F-4C76-ABC1-61BB15ED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0099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126E24-1D58-4EFA-A7A2-D3169C19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718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6F"/>
                </a:solidFill>
              </a:defRPr>
            </a:pPr>
            <a:r>
              <a:rPr sz="1200" b="1">
                <a:solidFill>
                  <a:srgbClr val="52616F"/>
                </a:solidFill>
              </a:rPr>
              <a:t>Executive focus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DCCDC0-98FB-471F-B28B-264568DA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2438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F3F35"/>
                </a:solidFill>
              </a:defRPr>
            </a:pPr>
            <a:r>
              <a:rPr sz="1800" b="1">
                <a:solidFill>
                  <a:srgbClr val="BF3F35"/>
                </a:solidFill>
              </a:rPr>
              <a:t>MO is carrying the heaviest backlog.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A25D6E-0CD0-4A60-8891-E4EC6217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2438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F"/>
                </a:solidFill>
              </a:defRPr>
            </a:pPr>
            <a:r>
              <a:rPr sz="1125" b="0">
                <a:solidFill>
                  <a:srgbClr val="52616F"/>
                </a:solidFill>
              </a:rPr>
              <a:t>MO currently owns 9 open tickets, including 2 high-severity items and 3 overdue follow-ups.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A6A72E-5905-4028-95D3-5DEDE366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19700"/>
            <a:ext cx="1524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C9A34B-E8F0-4856-8555-99B24C43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67325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F3F35"/>
                </a:solidFill>
              </a:defRPr>
            </a:pPr>
            <a:r>
              <a:rPr sz="900" b="1">
                <a:solidFill>
                  <a:srgbClr val="BF3F35"/>
                </a:solidFill>
              </a:rPr>
              <a:t>Needs executive attention</a:t>
            </a:r>
          </a:p>
        </p:txBody>
      </p:sp>
    </p:spTree>
    <p:extLst>
      <p:ext uri="{BB962C8B-B14F-4D97-AF65-F5344CB8AC3E}">
        <p14:creationId xmlns:p14="http://schemas.microsoft.com/office/powerpoint/2010/main" val="12994300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CD061C-2C02-4C7B-BFCC-DB3118E7CE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5252F-A0E5-4EA4-BA81-572F3039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solidFill>
              <a:srgbClr val="F5F7F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74949-FFC4-41DF-BE57-69AC18B6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06F"/>
                </a:solidFill>
              </a:defRPr>
            </a:pPr>
            <a:r>
              <a:rPr sz="1200" b="1">
                <a:solidFill>
                  <a:srgbClr val="0B706F"/>
                </a:solidFill>
              </a:rPr>
              <a:t>High-severity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23199-9D08-42EB-AF33-26D0A4CB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Specific tickets and weekly status movement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89CB1-55ED-48B3-98B0-C9C4F475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F"/>
                </a:solidFill>
              </a:defRPr>
            </a:pPr>
            <a:r>
              <a:rPr sz="1200" b="0">
                <a:solidFill>
                  <a:srgbClr val="52616F"/>
                </a:solidFill>
              </a:rPr>
              <a:t>Current live backlog for the top high-severity tickets. Comparing Apr 12 to Apr 19.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07CE6-2BCF-438F-8028-E2E83DC8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108710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6E8BA-73E9-449D-A4BD-E87A8D5A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0ED8E-4D97-48F5-BBB3-7D07CDE7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6F"/>
                </a:solidFill>
              </a:defRPr>
            </a:pPr>
            <a:r>
              <a:rPr sz="975" b="1">
                <a:solidFill>
                  <a:srgbClr val="52616F"/>
                </a:solidFill>
              </a:rPr>
              <a:t>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D8A7C-B3B4-44A2-A72E-C5BC0AAE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1145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6F"/>
                </a:solidFill>
              </a:defRPr>
            </a:pPr>
            <a:r>
              <a:rPr sz="975" b="1">
                <a:solidFill>
                  <a:srgbClr val="52616F"/>
                </a:solidFill>
              </a:rPr>
              <a:t>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D90F5-654F-4677-830E-B152FCBA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6F"/>
                </a:solidFill>
              </a:defRPr>
            </a:pPr>
            <a:r>
              <a:rPr sz="975" b="1">
                <a:solidFill>
                  <a:srgbClr val="52616F"/>
                </a:solidFill>
              </a:rPr>
              <a:t>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DDAEA-D5BA-445D-917B-B334D625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6F"/>
                </a:solidFill>
              </a:defRPr>
            </a:pPr>
            <a:r>
              <a:rPr sz="975" b="1">
                <a:solidFill>
                  <a:srgbClr val="52616F"/>
                </a:solidFill>
              </a:rPr>
              <a:t>Status Apr 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A96B2-8C9B-44B2-B059-A36366D2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1455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6F"/>
                </a:solidFill>
              </a:defRPr>
            </a:pPr>
            <a:r>
              <a:rPr sz="975" b="1">
                <a:solidFill>
                  <a:srgbClr val="52616F"/>
                </a:solidFill>
              </a:rPr>
              <a:t>Status Apr 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626CD-FDFC-40FE-98C0-DAB166A4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145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6F"/>
                </a:solidFill>
              </a:defRPr>
            </a:pPr>
            <a:r>
              <a:rPr sz="975" b="1">
                <a:solidFill>
                  <a:srgbClr val="52616F"/>
                </a:solidFill>
              </a:rPr>
              <a:t>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08DB0-FFA2-4516-9EFF-3E01C1E3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62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D3005E-060C-491B-B465-10E773FD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06F"/>
                </a:solidFill>
              </a:defRPr>
            </a:pPr>
            <a:r>
              <a:rPr sz="975" b="1">
                <a:solidFill>
                  <a:srgbClr val="0B706F"/>
                </a:solidFill>
              </a:rPr>
              <a:t>DEF-00482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14BAA-801C-4163-A88C-0C8321ED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479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Motor vibration drift seen on premium units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7C4ACB-DC82-4BA9-A280-D81C4907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3E3E7-A278-4546-A906-EF79C081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574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solidFill>
              <a:srgbClr val="FFF5D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F69CD3-36A6-4AC7-9425-AC184BB4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66A00"/>
                </a:solidFill>
              </a:defRPr>
            </a:pPr>
            <a:r>
              <a:rPr sz="975" b="1">
                <a:solidFill>
                  <a:srgbClr val="B66A00"/>
                </a:solidFill>
              </a:rPr>
              <a:t>Assigned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2CACD-F897-4A4B-B4C9-06EEF5A0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574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6F7F7"/>
          </a:solidFill>
          <a:ln xmlns:a="http://schemas.openxmlformats.org/drawingml/2006/main" w="0">
            <a:solidFill>
              <a:srgbClr val="E6F7F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0FC57-7DCB-49DC-9B16-B3D92CE7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7652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706F"/>
                </a:solidFill>
              </a:defRPr>
            </a:pPr>
            <a:r>
              <a:rPr sz="975" b="1">
                <a:solidFill>
                  <a:srgbClr val="0B706F"/>
                </a:solidFill>
              </a:rPr>
              <a:t>Returned to QM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CD5444-A63E-478F-B4D5-112C2D6D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L. Fischer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94E804-77E0-42AB-881E-3D19FF40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62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0">
            <a:solidFill>
              <a:srgbClr val="FBFCF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A89C11-8C9B-4F52-84BC-021F5E04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06F"/>
                </a:solidFill>
              </a:defRPr>
            </a:pPr>
            <a:r>
              <a:rPr sz="975" b="1">
                <a:solidFill>
                  <a:srgbClr val="0B706F"/>
                </a:solidFill>
              </a:rPr>
              <a:t>FC-00119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13D26D-B904-4A31-B92A-7B039DF3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813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Field claim spike on supplier-linked power module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EFC5B3-D388-4E98-B62C-30AE6165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SC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5B498-77FF-49CE-B2B0-CCC7C6D7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908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AD1E38-95FE-462F-87DA-8542CD75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Unassigned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5AABEE-CB9D-4A83-9517-2CBE707B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908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solidFill>
              <a:srgbClr val="FFF5D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F5427C-EC89-455E-B39F-9C03C922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0992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66A00"/>
                </a:solidFill>
              </a:defRPr>
            </a:pPr>
            <a:r>
              <a:rPr sz="975" b="1">
                <a:solidFill>
                  <a:srgbClr val="B66A00"/>
                </a:solidFill>
              </a:rPr>
              <a:t>Assigned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AE5B99-CC43-47E7-B6AD-43FFB5FB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0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M. Ortega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3D99A0-711E-47AB-8A0A-3E4D78E3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3F35"/>
          </a:solidFill>
          <a:ln xmlns:a="http://schemas.openxmlformats.org/drawingml/2006/main" w="0">
            <a:solidFill>
              <a:srgbClr val="BF3F3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AFC02D-4006-4838-A2D2-8E9BF8E3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64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6F"/>
                </a:solidFill>
              </a:defRPr>
            </a:pPr>
            <a:r>
              <a:rPr sz="975" b="0">
                <a:solidFill>
                  <a:srgbClr val="52616F"/>
                </a:solidFill>
              </a:rPr>
              <a:t>Red dots mark cases where the current follow-up window has elapsed and leadership intervention may be needed.</a:t>
            </a:r>
          </a:p>
        </p:txBody>
      </p:sp>
    </p:spTree>
    <p:extLst>
      <p:ext uri="{BB962C8B-B14F-4D97-AF65-F5344CB8AC3E}">
        <p14:creationId xmlns:p14="http://schemas.microsoft.com/office/powerpoint/2010/main" val="3723143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CD061C-2C02-4C7B-BFCC-DB3118E7CE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156EB-1DEC-44EB-BE22-1E183BE4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solidFill>
              <a:srgbClr val="F5F7F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E88EC-EDA7-4B51-8BF7-A2F6BFCA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06F"/>
                </a:solidFill>
              </a:defRPr>
            </a:pPr>
            <a:r>
              <a:rPr sz="1200" b="1">
                <a:solidFill>
                  <a:srgbClr val="0B706F"/>
                </a:solidFill>
              </a:rPr>
              <a:t>Portfolio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787A7-9938-43B1-9453-E03864CC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Open-ticket load by team and priority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23900-0099-458C-8BFB-3AF652EF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F"/>
                </a:solidFill>
              </a:defRPr>
            </a:pPr>
            <a:r>
              <a:rPr sz="1200" b="0">
                <a:solidFill>
                  <a:srgbClr val="52616F"/>
                </a:solidFill>
              </a:rPr>
              <a:t>Live backlog grouped by routing team. Priority mix highlights where executive attention may be required.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BDD5C-0566-47A7-BE5F-B37DF9C6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752475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3867C-361A-4C02-A7DB-286E9E2A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33550"/>
            <a:ext cx="3352800" cy="4514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AFFCA-693C-4D63-AB81-75C756A7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63436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3556E-B71F-494E-A80C-54F812BC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91100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F1925-B11E-46AB-BDC5-2A3260A9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A8C39-8CE0-42F3-8E9E-85C834C2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29113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F4AF2-C131-44D7-80A5-CC3CA4A5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3863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FBA11-D099-4321-888A-C2191DBE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67125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39C2B-FE94-4C1D-AD78-295D1709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F68D9-386D-420E-B87D-5C955BFF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5138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32C26-8BBB-48B5-A882-11B0F67F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9888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2985B-1405-410E-A31F-9CF3490C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CD39A-9861-4A79-A8E5-D0CD24DC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345CCD-91DE-42F2-ABBB-14A9311E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32300"/>
            <a:ext cx="876300" cy="5588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207F8-87D7-426D-AE32-68555686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94100"/>
            <a:ext cx="876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B66A0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3C4EF-2344-48CC-B97E-6E0FAD7B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35300"/>
            <a:ext cx="876300" cy="5588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BF3F35"/>
          </a:solidFill>
          <a:ln xmlns:a="http://schemas.openxmlformats.org/drawingml/2006/main" w="0">
            <a:solidFill>
              <a:srgbClr val="BF3F3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3623DC-40C1-4BCD-9E4D-5A6EBD55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863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509120-37AE-48FD-BACD-155A36F3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578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7 open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840F1-6086-4B19-BCF4-08022626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152900"/>
            <a:ext cx="876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D9EA30-E0F2-4DC8-96AD-ECA2528C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035300"/>
            <a:ext cx="876300" cy="1117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B66A0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6E4DD5-CDCA-413C-90CE-5A8C8580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476500"/>
            <a:ext cx="876300" cy="5588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BF3F35"/>
          </a:solidFill>
          <a:ln xmlns:a="http://schemas.openxmlformats.org/drawingml/2006/main" w="0">
            <a:solidFill>
              <a:srgbClr val="BF3F3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9B6CB8-E756-4333-AEA9-F1CBC759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0863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9E12F-1797-4349-991E-3D6994EC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2578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9 open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B41367-9DC2-46DD-95FF-2E3C1D03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11700"/>
            <a:ext cx="876300" cy="2794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C10BA1-3578-4A6A-BFDD-3ABCB71A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73500"/>
            <a:ext cx="876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B66A0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942DA9-8D87-436B-ABE5-9720DA45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94100"/>
            <a:ext cx="876300" cy="2794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F3F35"/>
          </a:solidFill>
          <a:ln xmlns:a="http://schemas.openxmlformats.org/drawingml/2006/main" w="0">
            <a:solidFill>
              <a:srgbClr val="BF3F3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230422-81BC-46D9-BC4B-FDA4EBF3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863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SC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1F41A4-56D6-4A8B-BE63-2964BE74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578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5 open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C26BAD-2CA4-421D-A739-7A9E0F7F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387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2B747C-05E6-4778-8EA9-3F069191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197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Low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7DA7B9-6A06-4EA6-9D3C-80395038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387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B66A0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892901-7FAC-48AC-886B-D1769394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197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Medium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28A506-AECA-4037-829C-B73C0E7B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387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3F35"/>
          </a:solidFill>
          <a:ln xmlns:a="http://schemas.openxmlformats.org/drawingml/2006/main" w="0">
            <a:solidFill>
              <a:srgbClr val="BF3F3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2DF649-176E-49B2-B159-62325E46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197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High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896EC3-BC27-4227-88D5-758A0BBC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838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F3F35"/>
                </a:solidFill>
              </a:defRPr>
            </a:pPr>
            <a:r>
              <a:rPr sz="1800" b="1">
                <a:solidFill>
                  <a:srgbClr val="BF3F35"/>
                </a:solidFill>
              </a:rPr>
              <a:t>MO is carrying the heaviest backlog.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CEB5B3-194D-4584-A6B7-493F6988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95600"/>
            <a:ext cx="2838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F"/>
                </a:solidFill>
              </a:defRPr>
            </a:pPr>
            <a:r>
              <a:rPr sz="1125" b="0">
                <a:solidFill>
                  <a:srgbClr val="52616F"/>
                </a:solidFill>
              </a:rPr>
              <a:t>MO currently owns 9 open tickets, including 2 high-severity items and 3 overdue follow-ups.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6BA0E6-A068-4F88-80D9-6EADDECA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838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634681-FD4B-4BA5-A63E-5054BAEE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RD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6057CA-143C-4CB5-ACDE-53CBEE16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00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7 open | 2 high | 2 overdue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CC5F27-2EB2-4C29-8CD3-7FDD29D1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05350"/>
            <a:ext cx="2838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A8DEBA-DCD3-43CD-97C9-DC13596F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006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MO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A6BCFA-8994-4ADF-BF5C-37662EEE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006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9 open | 2 high | 3 overdue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EE64EF-017D-4EDD-AF5F-2E776061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95900"/>
            <a:ext cx="2838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797013-B117-47E7-B689-B8C43882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911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SC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26B692-9B2C-4656-BD63-4FFA9843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3911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5 open | 1 high | 1 overdue</a:t>
            </a:r>
          </a:p>
        </p:txBody>
      </p:sp>
    </p:spTree>
    <p:extLst>
      <p:ext uri="{BB962C8B-B14F-4D97-AF65-F5344CB8AC3E}">
        <p14:creationId xmlns:p14="http://schemas.microsoft.com/office/powerpoint/2010/main" val="8270706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CD061C-2C02-4C7B-BFCC-DB3118E7CE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5E157-4C6A-4F90-9ECB-4E8FD6E7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solidFill>
              <a:srgbClr val="F5F7F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825D6-413B-4AC7-9466-31FBCA95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06F"/>
                </a:solidFill>
              </a:defRPr>
            </a:pPr>
            <a:r>
              <a:rPr sz="1200" b="1">
                <a:solidFill>
                  <a:srgbClr val="0B706F"/>
                </a:solidFill>
              </a:rPr>
              <a:t>Big-picture updates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49E69-41B6-4563-84CD-F08DD676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Trend signals for the executive narrative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33F50-2DCB-4710-B9FB-4663DB1E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F"/>
                </a:solidFill>
              </a:defRPr>
            </a:pPr>
            <a:r>
              <a:rPr sz="1200" b="0">
                <a:solidFill>
                  <a:srgbClr val="52616F"/>
                </a:solidFill>
              </a:rPr>
              <a:t>A management narrative built from live portfolio signals with light historical backfill where closure data remains sparse.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A5EAA-30EA-4D1A-815E-18E40364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647700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25D43-2375-4422-A0E0-3CF1AF5B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33550"/>
            <a:ext cx="4400550" cy="45148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E62E3-FDEA-43D6-8B98-8F9A3A50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53721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0DCD9-40EF-4B28-8E51-22F46509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91100"/>
            <a:ext cx="537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BFC25-CB78-4C18-9819-918DB08A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F6D81-88E1-475B-AE62-0A42B64D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9113"/>
            <a:ext cx="537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42114-3E74-4CBC-9639-B246674A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3863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EF63C-89FE-4290-B115-716233CF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67125"/>
            <a:ext cx="537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5F7E3-E247-4E20-BA2A-C1A64711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76063-27A4-4E16-9DFC-1C42913F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5138"/>
            <a:ext cx="537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F6ECE5-0C21-457E-BA8E-C2D2A051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9888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F9D1C-3DA3-4584-BD48-6215ED98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537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66C85-4467-4927-B522-03C3C1F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66ABB3-2829-4010-8B8E-16E4D81C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19475"/>
            <a:ext cx="468630" cy="1571625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929AB-F646-4077-92A6-8199E599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5448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2616F"/>
                </a:solidFill>
              </a:defRPr>
            </a:pPr>
            <a:r>
              <a:rPr sz="750" b="0">
                <a:solidFill>
                  <a:srgbClr val="52616F"/>
                </a:solidFill>
              </a:rPr>
              <a:t>Dec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E9588-2B31-4462-8C47-FD628A7B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" y="3105150"/>
            <a:ext cx="468630" cy="1885950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B66A0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B0CBC7-ECFD-4DF3-B5A2-CB50C225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810" y="2476500"/>
            <a:ext cx="468630" cy="2514600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BF3F35"/>
          </a:solidFill>
          <a:ln xmlns:a="http://schemas.openxmlformats.org/drawingml/2006/main" w="0">
            <a:solidFill>
              <a:srgbClr val="BF3F3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3E0B3-0D69-4202-8EC5-C5B294A0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710" y="5067300"/>
            <a:ext cx="5448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2616F"/>
                </a:solidFill>
              </a:defRPr>
            </a:pPr>
            <a:r>
              <a:rPr sz="750" b="0">
                <a:solidFill>
                  <a:srgbClr val="52616F"/>
                </a:solidFill>
              </a:rPr>
              <a:t>Dec 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EA7C97-AC24-484D-9AEE-C4ADD04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790825"/>
            <a:ext cx="468630" cy="2200275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B66A0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407ABB-27D9-4271-9F8A-075B93AD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3105150"/>
            <a:ext cx="468630" cy="1885950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B66A0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921CA0-19DC-4A1A-A13E-555FFAFF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370" y="5067300"/>
            <a:ext cx="5448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2616F"/>
                </a:solidFill>
              </a:defRPr>
            </a:pPr>
            <a:r>
              <a:rPr sz="750" b="0">
                <a:solidFill>
                  <a:srgbClr val="52616F"/>
                </a:solidFill>
              </a:rPr>
              <a:t>Jan 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7F1761-33BC-4039-AFA1-2CC8CE4A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19475"/>
            <a:ext cx="468630" cy="1571625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4AC3CA-1175-4AB6-9F73-78052003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130" y="3576638"/>
            <a:ext cx="468630" cy="1414463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9263AB-04B0-497C-8D96-DE1B3134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5067300"/>
            <a:ext cx="5448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2616F"/>
                </a:solidFill>
              </a:defRPr>
            </a:pPr>
            <a:r>
              <a:rPr sz="750" b="0">
                <a:solidFill>
                  <a:srgbClr val="52616F"/>
                </a:solidFill>
              </a:rPr>
              <a:t>Jan 19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94DF07-124F-4921-97F4-2AD8DE34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3733800"/>
            <a:ext cx="468630" cy="1257300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D27AC9-A86C-40EC-8082-0ADAF2FC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790" y="3890963"/>
            <a:ext cx="468630" cy="1100138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CBE5BF-2139-44AA-A493-901A6C42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690" y="5067300"/>
            <a:ext cx="5448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2616F"/>
                </a:solidFill>
              </a:defRPr>
            </a:pPr>
            <a:r>
              <a:rPr sz="750" b="0">
                <a:solidFill>
                  <a:srgbClr val="52616F"/>
                </a:solidFill>
              </a:rPr>
              <a:t>Feb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6B3AFC-87FD-473C-98C6-D32CD42F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620" y="4048125"/>
            <a:ext cx="468630" cy="942975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EE121B-4EF8-4F44-A937-F4968734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0" y="5067300"/>
            <a:ext cx="5448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2616F"/>
                </a:solidFill>
              </a:defRPr>
            </a:pPr>
            <a:r>
              <a:rPr sz="750" b="0">
                <a:solidFill>
                  <a:srgbClr val="52616F"/>
                </a:solidFill>
              </a:rPr>
              <a:t>Feb 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B27389-271A-4662-B9D0-9AD21ECD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594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F"/>
                </a:solidFill>
              </a:defRPr>
            </a:pPr>
            <a:r>
              <a:rPr sz="1050" b="0">
                <a:solidFill>
                  <a:srgbClr val="52616F"/>
                </a:solidFill>
              </a:rPr>
              <a:t>The trend highlights the December defect spike and the softer run rate visible after the supplier transition.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5E80F7-E30D-46F7-8A78-49F7C6B0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38350"/>
            <a:ext cx="39052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solidFill>
              <a:srgbClr val="EAF7F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359F20-6300-4F7B-B4AE-B3C68F90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526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8D55"/>
                </a:solidFill>
              </a:defRPr>
            </a:pPr>
            <a:r>
              <a:rPr sz="1200" b="1">
                <a:solidFill>
                  <a:srgbClr val="1A8D55"/>
                </a:solidFill>
              </a:rPr>
              <a:t>December spike has eased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C4B2C1-E9CC-44B5-B14F-DECB05D6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336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-40%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968007-EB72-4219-87D4-9433F90A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574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16F"/>
                </a:solidFill>
              </a:defRPr>
            </a:pPr>
            <a:r>
              <a:rPr sz="825" b="1">
                <a:solidFill>
                  <a:srgbClr val="52616F"/>
                </a:solidFill>
              </a:rPr>
              <a:t>Peak to current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754141-2B1F-4DD4-99DC-50AC0C91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14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Weekly incidents peaked in December and have since settled into a lower run rate.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F43DC0-C632-4F1B-ACA9-CA974092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14700"/>
            <a:ext cx="39052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solidFill>
              <a:srgbClr val="EAF7F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4E30EB-241B-4D49-80A5-09BD5D0D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290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8D55"/>
                </a:solidFill>
              </a:defRPr>
            </a:pPr>
            <a:r>
              <a:rPr sz="1200" b="1">
                <a:solidFill>
                  <a:srgbClr val="1A8D55"/>
                </a:solidFill>
              </a:rPr>
              <a:t>Supplier-change signal is improving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C575F8-1A90-4605-9E01-4FAB0C5B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099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-33%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56927F-681B-4591-9D22-F63C077E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338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16F"/>
                </a:solidFill>
              </a:defRPr>
            </a:pPr>
            <a:r>
              <a:rPr sz="825" b="1">
                <a:solidFill>
                  <a:srgbClr val="52616F"/>
                </a:solidFill>
              </a:rPr>
              <a:t>Supplier-linked watchlist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A694C6-73FD-46BA-8C3A-D2C88D16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9095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Supplier-linked issues are trending down versus the January baseline.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EF1617-451A-49F6-8B3D-E95D66D8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91050"/>
            <a:ext cx="39052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426F00-B700-4B6E-8D9F-E8BD7D06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053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3F35"/>
                </a:solidFill>
              </a:defRPr>
            </a:pPr>
            <a:r>
              <a:rPr sz="1200" b="1">
                <a:solidFill>
                  <a:srgbClr val="BF3F35"/>
                </a:solidFill>
              </a:rPr>
              <a:t>Backlog concentration needs attention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9E0D1B-6B87-4EE2-A12F-5885751E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863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E4EF5F-05D3-478F-9FC8-408214C9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10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16F"/>
                </a:solidFill>
              </a:defRPr>
            </a:pPr>
            <a:r>
              <a:rPr sz="825" b="1">
                <a:solidFill>
                  <a:srgbClr val="52616F"/>
                </a:solidFill>
              </a:rPr>
              <a:t>High severity open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FEFAFB-6619-46ED-8D4F-B9C77940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673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MO currently owns the heaviest open-ticket queue and should stay in the weekly leadership review.</a:t>
            </a:r>
          </a:p>
        </p:txBody>
      </p:sp>
    </p:spTree>
    <p:extLst>
      <p:ext uri="{BB962C8B-B14F-4D97-AF65-F5344CB8AC3E}">
        <p14:creationId xmlns:p14="http://schemas.microsoft.com/office/powerpoint/2010/main" val="13114362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2026-04-19T05:41:33.2850000Z</dcterms:created>
  <dcterms:modified xsi:type="dcterms:W3CDTF">2026-04-19T05:41:33.2850000Z</dcterms:modified>
</coreProperties>
</file>