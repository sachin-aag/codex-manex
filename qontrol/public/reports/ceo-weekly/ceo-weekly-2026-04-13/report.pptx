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f3507d01f94a3a" /><Relationship Type="http://schemas.openxmlformats.org/officeDocument/2006/relationships/extended-properties" Target="/docProps/app.xml" Id="R292041221d7a4b58" /><Relationship Type="http://schemas.openxmlformats.org/officeDocument/2006/relationships/officeDocument" Target="/ppt/presentation.xml" Id="R19deb521fe96446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105ec7583564e4d"/>
  </p:sldMasterIdLst>
  <p:notesMasterIdLst>
    <p:notesMasterId xmlns:r="http://schemas.openxmlformats.org/officeDocument/2006/relationships" r:id="R1ff3d126fba944a4"/>
  </p:notesMasterIdLst>
  <p:sldIdLst>
    <p:sldId xmlns:r="http://schemas.openxmlformats.org/officeDocument/2006/relationships" id="256" r:id="R386564fb060a4246"/>
    <p:sldId xmlns:r="http://schemas.openxmlformats.org/officeDocument/2006/relationships" id="257" r:id="Rdde20d5071b04e0e"/>
    <p:sldId xmlns:r="http://schemas.openxmlformats.org/officeDocument/2006/relationships" id="258" r:id="R643775974da0493a"/>
    <p:sldId xmlns:r="http://schemas.openxmlformats.org/officeDocument/2006/relationships" id="259" r:id="R37a966fdfa9f473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05ec7583564e4d" /><Relationship Type="http://schemas.openxmlformats.org/officeDocument/2006/relationships/theme" Target="/ppt/theme/theme1.xml" Id="Raa6ecf2ac3fb424d" /><Relationship Type="http://schemas.openxmlformats.org/officeDocument/2006/relationships/notesMaster" Target="/ppt/notesMasters/notesMaster1.xml" Id="R1ff3d126fba944a4" /><Relationship Type="http://schemas.openxmlformats.org/officeDocument/2006/relationships/presProps" Target="/ppt/presProps.xml" Id="Ra11715c3214644a7" /><Relationship Type="http://schemas.openxmlformats.org/officeDocument/2006/relationships/viewProps" Target="/ppt/viewProps.xml" Id="R7da89efd775742f2" /><Relationship Type="http://schemas.openxmlformats.org/officeDocument/2006/relationships/tableStyles" Target="/ppt/tableStyles.xml" Id="R9542dc34c34443c8" /><Relationship Type="http://schemas.openxmlformats.org/officeDocument/2006/relationships/slide" Target="/ppt/slides/slide1.xml" Id="R386564fb060a4246" /><Relationship Type="http://schemas.openxmlformats.org/officeDocument/2006/relationships/slide" Target="/ppt/slides/slide2.xml" Id="Rdde20d5071b04e0e" /><Relationship Type="http://schemas.openxmlformats.org/officeDocument/2006/relationships/slide" Target="/ppt/slides/slide3.xml" Id="R643775974da0493a" /><Relationship Type="http://schemas.openxmlformats.org/officeDocument/2006/relationships/slide" Target="/ppt/slides/slide4.xml" Id="R37a966fdfa9f473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5999d30ff114d1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ea9e72d270c48af" /><Relationship Type="http://schemas.openxmlformats.org/officeDocument/2006/relationships/notesMaster" Target="/ppt/notesMasters/notesMaster1.xml" Id="R09c48ee5aa6e4f3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376e06bf50448ab" /><Relationship Type="http://schemas.openxmlformats.org/officeDocument/2006/relationships/notesMaster" Target="/ppt/notesMasters/notesMaster1.xml" Id="Rcf51d8f9103f495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6c1795edb56476a" /><Relationship Type="http://schemas.openxmlformats.org/officeDocument/2006/relationships/notesMaster" Target="/ppt/notesMasters/notesMaster1.xml" Id="R3ce2c1f438884df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b625330d4d442b1" /><Relationship Type="http://schemas.openxmlformats.org/officeDocument/2006/relationships/notesMaster" Target="/ppt/notesMasters/notesMaster1.xml" Id="R2c0f80fd1bd3457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c343519beb4fd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 1">
            <a:extLst xmlns:a="http://schemas.openxmlformats.org/drawingml/2006/main">
              <a:ext uri="{FF2B5EF4-FFF2-40B4-BE49-F238E27FC236}">
                <a16:creationId xmlns:a16="http://schemas.microsoft.com/office/drawing/2014/main" id="{A81AD4A6-B4A6-4373-B696-D80D94EAA854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/>
        </p:txBody>
      </p:sp>
      <p:sp>
        <p:nvSpPr>
          <p:cNvPr id="2" name="Subtitle 2">
            <a:extLst xmlns:a="http://schemas.openxmlformats.org/drawingml/2006/main">
              <a:ext uri="{FF2B5EF4-FFF2-40B4-BE49-F238E27FC236}">
                <a16:creationId xmlns:a16="http://schemas.microsoft.com/office/drawing/2014/main" id="{2CDBE2FC-5C2D-4AFF-91EB-781478309F72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ED3C5A7-792B-4482-9596-CAEAE26BED10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E0E28E7-24BB-48F0-87C9-A9910985078B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38EE67A-5EB7-40DD-A2FB-C845C008A837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f5a2ca522c33431d" /><Relationship Type="http://schemas.openxmlformats.org/officeDocument/2006/relationships/slideLayout" Target="/ppt/slideLayouts/slideLayout2.xml" Id="R74119cb18866411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C75A3E2-9937-4520-8A70-F50426BB25C2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4119cb18866411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774193217748ce" /><Relationship Type="http://schemas.openxmlformats.org/officeDocument/2006/relationships/notesSlide" Target="/ppt/notesSlides/notesSlide1.xml" Id="Rade59e71dc584c8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bf06160d7749d6" /><Relationship Type="http://schemas.openxmlformats.org/officeDocument/2006/relationships/notesSlide" Target="/ppt/notesSlides/notesSlide2.xml" Id="Rf4e2cb01a45a49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f48fc944ba47bc" /><Relationship Type="http://schemas.openxmlformats.org/officeDocument/2006/relationships/notesSlide" Target="/ppt/notesSlides/notesSlide3.xml" Id="Rb395209ff6bd41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9fe4c983ec4e65" /><Relationship Type="http://schemas.openxmlformats.org/officeDocument/2006/relationships/notesSlide" Target="/ppt/notesSlides/notesSlide4.xml" Id="R4c70b95f7ba1428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38EE67A-5EB7-40DD-A2FB-C845C008A8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B2AE70-9DF6-4D8E-96F3-1A141472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solidFill>
              <a:srgbClr val="F5F7F8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A65787-2083-4159-B495-B955033F9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11087100" cy="6057900"/>
          </a:xfrm>
          <a:prstGeom xmlns:a="http://schemas.openxmlformats.org/drawingml/2006/main" prst="roundRect">
            <a:avLst>
              <a:gd name="adj" fmla="val 12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B45B3F-FD3E-4C9A-A134-DEEB49762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11087100" cy="14478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6F7F7"/>
          </a:solidFill>
          <a:ln xmlns:a="http://schemas.openxmlformats.org/drawingml/2006/main" w="0">
            <a:solidFill>
              <a:srgbClr val="E6F7F7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A2B738-B3C5-4AD3-BB88-F9E51A9D9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66750"/>
            <a:ext cx="1733550" cy="1733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F2F1"/>
          </a:solidFill>
          <a:ln xmlns:a="http://schemas.openxmlformats.org/drawingml/2006/main" w="0">
            <a:solidFill>
              <a:srgbClr val="D6F2F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E3193C-3ABD-4237-8D44-092806FD6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14300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E8D"/>
          </a:solidFill>
          <a:ln xmlns:a="http://schemas.openxmlformats.org/drawingml/2006/main" w="0">
            <a:solidFill>
              <a:srgbClr val="0F8E8D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05DB42-3446-4F6C-9268-B9B34A01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667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0F8E8D"/>
          </a:solidFill>
          <a:ln xmlns:a="http://schemas.openxmlformats.org/drawingml/2006/main" w="0">
            <a:solidFill>
              <a:srgbClr val="0F8E8D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488F01-540A-4932-BDE1-5532A29E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42950"/>
            <a:ext cx="361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Q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C09B06-8DC0-4B43-9D7E-7D71984F3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742950"/>
            <a:ext cx="171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706F"/>
                </a:solidFill>
              </a:defRPr>
            </a:pPr>
            <a:r>
              <a:rPr sz="1650" b="1">
                <a:solidFill>
                  <a:srgbClr val="0B706F"/>
                </a:solidFill>
              </a:rPr>
              <a:t>Qontrol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A7C661-711A-455F-A778-C1ED1437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47900"/>
            <a:ext cx="533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12B"/>
                </a:solidFill>
              </a:defRPr>
            </a:pPr>
            <a:r>
              <a:rPr sz="2550" b="1">
                <a:solidFill>
                  <a:srgbClr val="17212B"/>
                </a:solidFill>
              </a:rPr>
              <a:t>Weekly CEO Report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B9E79A-7F40-44C4-B250-924383195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95600"/>
            <a:ext cx="6477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6F"/>
                </a:solidFill>
              </a:defRPr>
            </a:pPr>
            <a:r>
              <a:rPr sz="1350" b="0">
                <a:solidFill>
                  <a:srgbClr val="52616F"/>
                </a:solidFill>
              </a:rPr>
              <a:t>Executive quality snapshot for Apr 13 - Apr 19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867044-F75A-4A50-9E78-9762255AD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29000"/>
            <a:ext cx="3143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F8E8D"/>
          </a:solidFill>
          <a:ln xmlns:a="http://schemas.openxmlformats.org/drawingml/2006/main" w="0">
            <a:solidFill>
              <a:srgbClr val="0F8E8D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F22F38-8ED8-42EC-B1DD-E6C5BE1B4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Generated Apr 19, 2026, 7:42 AM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DC6045-8BBE-4F5D-B422-6747CCF8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14800"/>
            <a:ext cx="647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6F"/>
                </a:solidFill>
              </a:defRPr>
            </a:pPr>
            <a:r>
              <a:rPr sz="1200" b="0">
                <a:solidFill>
                  <a:srgbClr val="52616F"/>
                </a:solidFill>
              </a:rPr>
              <a:t>Prepared for the weekly executive quality review. This deck combines the live open-ticket portfolio with seeded context where historical closure data is still sparse.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5051FF-4163-46A3-8B09-17CB0B97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2915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6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1B6400-3849-4E65-8954-1AA306FFF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8196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16F"/>
                </a:solidFill>
              </a:defRPr>
            </a:pPr>
            <a:r>
              <a:rPr sz="1050" b="1">
                <a:solidFill>
                  <a:srgbClr val="52616F"/>
                </a:solidFill>
              </a:rPr>
              <a:t>Open tickets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ED6E86-481F-4FE8-B7BC-CC4B09F5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05400"/>
            <a:ext cx="171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12B"/>
                </a:solidFill>
              </a:defRPr>
            </a:pPr>
            <a:r>
              <a:rPr sz="2400" b="1">
                <a:solidFill>
                  <a:srgbClr val="17212B"/>
                </a:solidFill>
              </a:rPr>
              <a:t>160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A9541E-17C3-4AFC-9C16-0740E9B2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62915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1E486F-9020-4A1B-ADBE-0A8524467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8196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16F"/>
                </a:solidFill>
              </a:defRPr>
            </a:pPr>
            <a:r>
              <a:rPr sz="1050" b="1">
                <a:solidFill>
                  <a:srgbClr val="52616F"/>
                </a:solidFill>
              </a:rPr>
              <a:t>High severity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BF89E8-2501-4A62-B090-B45291CBE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105400"/>
            <a:ext cx="171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12B"/>
                </a:solidFill>
              </a:defRPr>
            </a:pPr>
            <a:r>
              <a:rPr sz="2400" b="1">
                <a:solidFill>
                  <a:srgbClr val="17212B"/>
                </a:solidFill>
              </a:rPr>
              <a:t>55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6F6775-EC25-463F-89A7-7F32366D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62915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6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CB1851-D19E-499F-8429-3C3FEBEAD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8196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16F"/>
                </a:solidFill>
              </a:defRPr>
            </a:pPr>
            <a:r>
              <a:rPr sz="1050" b="1">
                <a:solidFill>
                  <a:srgbClr val="52616F"/>
                </a:solidFill>
              </a:rPr>
              <a:t>Overdue follow-up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B72339-CE74-4FE1-9ADC-FFCEAEC9A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5105400"/>
            <a:ext cx="171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12B"/>
                </a:solidFill>
              </a:defRPr>
            </a:pPr>
            <a:r>
              <a:rPr sz="2400" b="1">
                <a:solidFill>
                  <a:srgbClr val="17212B"/>
                </a:solidFill>
              </a:rPr>
              <a:t>153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1995B1-E962-4792-8D67-9834078C4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24150"/>
            <a:ext cx="30099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6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400A59-5A75-4CF2-AD24-C2FBDD84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71800"/>
            <a:ext cx="209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6F"/>
                </a:solidFill>
              </a:defRPr>
            </a:pPr>
            <a:r>
              <a:rPr sz="1200" b="1">
                <a:solidFill>
                  <a:srgbClr val="52616F"/>
                </a:solidFill>
              </a:rPr>
              <a:t>Executive focus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9044F2-1B67-4FDC-98C8-62C593D5F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14700"/>
            <a:ext cx="2438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F3F35"/>
                </a:solidFill>
              </a:defRPr>
            </a:pPr>
            <a:r>
              <a:rPr sz="1800" b="1">
                <a:solidFill>
                  <a:srgbClr val="BF3F35"/>
                </a:solidFill>
              </a:rPr>
              <a:t>MO is carrying the heaviest backlog.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D92EF8-6DF3-4C53-9057-6887C6FE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95750"/>
            <a:ext cx="24384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6F"/>
                </a:solidFill>
              </a:defRPr>
            </a:pPr>
            <a:r>
              <a:rPr sz="1125" b="0">
                <a:solidFill>
                  <a:srgbClr val="52616F"/>
                </a:solidFill>
              </a:rPr>
              <a:t>MO currently owns 97 open tickets, including 20 high-severity items and 94 overdue follow-ups. That queue scores 203 points above the peer median on the executive backlog index.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186DBF-1D0C-4B79-BC21-0FD34741C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219700"/>
            <a:ext cx="15240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0EE"/>
          </a:solidFill>
          <a:ln xmlns:a="http://schemas.openxmlformats.org/drawingml/2006/main" w="0">
            <a:solidFill>
              <a:srgbClr val="FFF0EE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2BF244-E0DC-4D08-9108-91EBEB923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267325"/>
            <a:ext cx="1371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F3F35"/>
                </a:solidFill>
              </a:defRPr>
            </a:pPr>
            <a:r>
              <a:rPr sz="900" b="1">
                <a:solidFill>
                  <a:srgbClr val="BF3F35"/>
                </a:solidFill>
              </a:rPr>
              <a:t>Needs executive attention</a:t>
            </a:r>
          </a:p>
        </p:txBody>
      </p:sp>
    </p:spTree>
    <p:extLst>
      <p:ext uri="{BB962C8B-B14F-4D97-AF65-F5344CB8AC3E}">
        <p14:creationId xmlns:p14="http://schemas.microsoft.com/office/powerpoint/2010/main" val="9484261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38EE67A-5EB7-40DD-A2FB-C845C008A8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0D1493-8AA6-4DB1-AF59-F8EBC391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solidFill>
              <a:srgbClr val="F5F7F8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C463DC-6880-4ADB-A4D5-58140EB6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B706F"/>
                </a:solidFill>
              </a:defRPr>
            </a:pPr>
            <a:r>
              <a:rPr sz="1200" b="1">
                <a:solidFill>
                  <a:srgbClr val="0B706F"/>
                </a:solidFill>
              </a:rPr>
              <a:t>High-severity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043F77-72EB-4A5A-960B-4FA513D06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12B"/>
                </a:solidFill>
              </a:defRPr>
            </a:pPr>
            <a:r>
              <a:rPr sz="2100" b="1">
                <a:solidFill>
                  <a:srgbClr val="17212B"/>
                </a:solidFill>
              </a:rPr>
              <a:t>Specific tickets and weekly status movement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7CBEB4-0449-474B-B8A4-023E91217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723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6F"/>
                </a:solidFill>
              </a:defRPr>
            </a:pPr>
            <a:r>
              <a:rPr sz="1200" b="0">
                <a:solidFill>
                  <a:srgbClr val="52616F"/>
                </a:solidFill>
              </a:rPr>
              <a:t>Current live backlog for the top high-severity tickets. Comparing Apr 12 to Apr 19.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E9EBF5-9320-4E91-8479-43F21B57D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11087100" cy="4514850"/>
          </a:xfrm>
          <a:prstGeom xmlns:a="http://schemas.openxmlformats.org/drawingml/2006/main" prst="roundRect">
            <a:avLst>
              <a:gd name="adj" fmla="val 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9EB343-FF00-46CA-B8D3-131F69EB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38350"/>
            <a:ext cx="10629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6B8412-271F-466B-BA6D-F1B70B998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14550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2616F"/>
                </a:solidFill>
              </a:defRPr>
            </a:pPr>
            <a:r>
              <a:rPr sz="975" b="1">
                <a:solidFill>
                  <a:srgbClr val="52616F"/>
                </a:solidFill>
              </a:rPr>
              <a:t>Ticket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D25AE4-6303-4196-B270-69704A02D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114550"/>
            <a:ext cx="3143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2616F"/>
                </a:solidFill>
              </a:defRPr>
            </a:pPr>
            <a:r>
              <a:rPr sz="975" b="1">
                <a:solidFill>
                  <a:srgbClr val="52616F"/>
                </a:solidFill>
              </a:rPr>
              <a:t>Issue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065726-38C0-45DE-A80E-A8B60ADA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114550"/>
            <a:ext cx="685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2616F"/>
                </a:solidFill>
              </a:defRPr>
            </a:pPr>
            <a:r>
              <a:rPr sz="975" b="1">
                <a:solidFill>
                  <a:srgbClr val="52616F"/>
                </a:solidFill>
              </a:rPr>
              <a:t>Team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29AE2E-09BC-4C58-8C71-C412F1A9B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14550"/>
            <a:ext cx="1504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2616F"/>
                </a:solidFill>
              </a:defRPr>
            </a:pPr>
            <a:r>
              <a:rPr sz="975" b="1">
                <a:solidFill>
                  <a:srgbClr val="52616F"/>
                </a:solidFill>
              </a:rPr>
              <a:t>Status Apr 12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BFE27B-545D-4D15-8AC7-25F0E748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114550"/>
            <a:ext cx="1504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2616F"/>
                </a:solidFill>
              </a:defRPr>
            </a:pPr>
            <a:r>
              <a:rPr sz="975" b="1">
                <a:solidFill>
                  <a:srgbClr val="52616F"/>
                </a:solidFill>
              </a:rPr>
              <a:t>Status Apr 19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5D6EB2-36B8-4EFB-AFDD-D2015C559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11455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2616F"/>
                </a:solidFill>
              </a:defRPr>
            </a:pPr>
            <a:r>
              <a:rPr sz="975" b="1">
                <a:solidFill>
                  <a:srgbClr val="52616F"/>
                </a:solidFill>
              </a:rPr>
              <a:t>Owner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F33E5F-FC8B-444F-BC4D-3607E2DB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71750"/>
            <a:ext cx="10629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83791E-AA08-48F6-91AA-2ECA8FCF4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706F"/>
                </a:solidFill>
              </a:defRPr>
            </a:pPr>
            <a:r>
              <a:rPr sz="975" b="1">
                <a:solidFill>
                  <a:srgbClr val="0B706F"/>
                </a:solidFill>
              </a:rPr>
              <a:t>DEF-00030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E8D801-7BE3-4861-84A1-BEC3C375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647950"/>
            <a:ext cx="3143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</a:defRPr>
            </a:pPr>
            <a:r>
              <a:rPr sz="975" b="0">
                <a:solidFill>
                  <a:srgbClr val="17212B"/>
                </a:solidFill>
              </a:rPr>
              <a:t>VIB_FAIL on PRD-00272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AFA3F8-6771-45F0-B6F5-1D0A6CC8A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667000"/>
            <a:ext cx="495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F3F35"/>
                </a:solidFill>
              </a:defRPr>
            </a:pPr>
            <a:r>
              <a:rPr sz="975" b="1">
                <a:solidFill>
                  <a:srgbClr val="BF3F35"/>
                </a:solidFill>
              </a:rPr>
              <a:t>MO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8C91A2-6F00-4F16-BD29-30923B50B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57475"/>
            <a:ext cx="1409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0EE"/>
          </a:solidFill>
          <a:ln xmlns:a="http://schemas.openxmlformats.org/drawingml/2006/main" w="0">
            <a:solidFill>
              <a:srgbClr val="FFF0EE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E1BD32-1A48-433B-9EAB-38B32AFEC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76525"/>
            <a:ext cx="1295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F3F35"/>
                </a:solidFill>
              </a:defRPr>
            </a:pPr>
            <a:r>
              <a:rPr sz="975" b="1">
                <a:solidFill>
                  <a:srgbClr val="BF3F35"/>
                </a:solidFill>
              </a:rPr>
              <a:t>Unassigned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286080-0823-4607-A23D-74E2D91BE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57475"/>
            <a:ext cx="1409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0EE"/>
          </a:solidFill>
          <a:ln xmlns:a="http://schemas.openxmlformats.org/drawingml/2006/main" w="0">
            <a:solidFill>
              <a:srgbClr val="FFF0EE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FE0A93-C895-4941-A9DB-29F593C4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676525"/>
            <a:ext cx="1295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F3F35"/>
                </a:solidFill>
              </a:defRPr>
            </a:pPr>
            <a:r>
              <a:rPr sz="975" b="1">
                <a:solidFill>
                  <a:srgbClr val="BF3F35"/>
                </a:solidFill>
              </a:rPr>
              <a:t>Unassigned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351D34-B551-4342-AE88-2CB898E15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66700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</a:defRPr>
            </a:pPr>
            <a:r>
              <a:rPr sz="975" b="0">
                <a:solidFill>
                  <a:srgbClr val="17212B"/>
                </a:solidFill>
              </a:rPr>
              <a:t>Unassigned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9B45F7-417A-4B28-94FB-E10E649B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724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3F35"/>
          </a:solidFill>
          <a:ln xmlns:a="http://schemas.openxmlformats.org/drawingml/2006/main" w="0">
            <a:solidFill>
              <a:srgbClr val="BF3F35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41DC70-3431-4324-A1D6-8D74AB7E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10629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D"/>
          </a:solidFill>
          <a:ln xmlns:a="http://schemas.openxmlformats.org/drawingml/2006/main" w="0">
            <a:solidFill>
              <a:srgbClr val="FBFCFD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5353A2-B294-43A9-9F8C-3D2625AE5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706F"/>
                </a:solidFill>
              </a:defRPr>
            </a:pPr>
            <a:r>
              <a:rPr sz="975" b="1">
                <a:solidFill>
                  <a:srgbClr val="0B706F"/>
                </a:solidFill>
              </a:rPr>
              <a:t>DEF-00037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A7C764-EFE7-4132-8831-0CB334A75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181350"/>
            <a:ext cx="3143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</a:defRPr>
            </a:pPr>
            <a:r>
              <a:rPr sz="975" b="0">
                <a:solidFill>
                  <a:srgbClr val="17212B"/>
                </a:solidFill>
              </a:rPr>
              <a:t>VIB_FAIL on PRD-00485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EEFA06-9677-4579-BCD2-BEF814227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200400"/>
            <a:ext cx="495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F3F35"/>
                </a:solidFill>
              </a:defRPr>
            </a:pPr>
            <a:r>
              <a:rPr sz="975" b="1">
                <a:solidFill>
                  <a:srgbClr val="BF3F35"/>
                </a:solidFill>
              </a:rPr>
              <a:t>MO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417347-FB68-49E0-B003-B563A84B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90875"/>
            <a:ext cx="1409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0EE"/>
          </a:solidFill>
          <a:ln xmlns:a="http://schemas.openxmlformats.org/drawingml/2006/main" w="0">
            <a:solidFill>
              <a:srgbClr val="FFF0EE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79DC60-6A51-4FEA-A6B1-D60578253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09925"/>
            <a:ext cx="1295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F3F35"/>
                </a:solidFill>
              </a:defRPr>
            </a:pPr>
            <a:r>
              <a:rPr sz="975" b="1">
                <a:solidFill>
                  <a:srgbClr val="BF3F35"/>
                </a:solidFill>
              </a:rPr>
              <a:t>Unassigned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ED418C-27FC-4D12-8786-4F34C8A8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190875"/>
            <a:ext cx="1409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0EE"/>
          </a:solidFill>
          <a:ln xmlns:a="http://schemas.openxmlformats.org/drawingml/2006/main" w="0">
            <a:solidFill>
              <a:srgbClr val="FFF0EE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0F5538-4CF1-4EFE-A348-DCDF9148E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209925"/>
            <a:ext cx="1295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F3F35"/>
                </a:solidFill>
              </a:defRPr>
            </a:pPr>
            <a:r>
              <a:rPr sz="975" b="1">
                <a:solidFill>
                  <a:srgbClr val="BF3F35"/>
                </a:solidFill>
              </a:rPr>
              <a:t>Unassigned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FC3135-197A-45E0-A5F1-AD22DC1B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20040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</a:defRPr>
            </a:pPr>
            <a:r>
              <a:rPr sz="975" b="0">
                <a:solidFill>
                  <a:srgbClr val="17212B"/>
                </a:solidFill>
              </a:rPr>
              <a:t>Unassigned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A265AE-1797-4739-B3F3-FC656CF3A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575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3F35"/>
          </a:solidFill>
          <a:ln xmlns:a="http://schemas.openxmlformats.org/drawingml/2006/main" w="0">
            <a:solidFill>
              <a:srgbClr val="BF3F35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3AEDB4D-C5C6-442B-A23A-30F1E61F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10629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F76911-7F25-4CD1-9E6B-58AB608B5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3380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706F"/>
                </a:solidFill>
              </a:defRPr>
            </a:pPr>
            <a:r>
              <a:rPr sz="975" b="1">
                <a:solidFill>
                  <a:srgbClr val="0B706F"/>
                </a:solidFill>
              </a:rPr>
              <a:t>DEF-00038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986BAEF-FAC0-4704-ACFA-240B7409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714750"/>
            <a:ext cx="3143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</a:defRPr>
            </a:pPr>
            <a:r>
              <a:rPr sz="975" b="0">
                <a:solidFill>
                  <a:srgbClr val="17212B"/>
                </a:solidFill>
              </a:rPr>
              <a:t>VIB_FAIL on PRD-00234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27FBFB6-1252-4C78-9824-637388B75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733800"/>
            <a:ext cx="495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F3F35"/>
                </a:solidFill>
              </a:defRPr>
            </a:pPr>
            <a:r>
              <a:rPr sz="975" b="1">
                <a:solidFill>
                  <a:srgbClr val="BF3F35"/>
                </a:solidFill>
              </a:rPr>
              <a:t>MO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689BF1F-E698-4135-AA36-90E3247A4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724275"/>
            <a:ext cx="1409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0EE"/>
          </a:solidFill>
          <a:ln xmlns:a="http://schemas.openxmlformats.org/drawingml/2006/main" w="0">
            <a:solidFill>
              <a:srgbClr val="FFF0EE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581291E-BA4E-4A37-9D61-81E89108A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43325"/>
            <a:ext cx="1295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F3F35"/>
                </a:solidFill>
              </a:defRPr>
            </a:pPr>
            <a:r>
              <a:rPr sz="975" b="1">
                <a:solidFill>
                  <a:srgbClr val="BF3F35"/>
                </a:solidFill>
              </a:rPr>
              <a:t>Unassigned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01E00D8-582D-41BA-8414-F97E0A1D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724275"/>
            <a:ext cx="1409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0EE"/>
          </a:solidFill>
          <a:ln xmlns:a="http://schemas.openxmlformats.org/drawingml/2006/main" w="0">
            <a:solidFill>
              <a:srgbClr val="FFF0EE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2CB6B02-544C-4E0A-B6E1-B1674E501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743325"/>
            <a:ext cx="1295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F3F35"/>
                </a:solidFill>
              </a:defRPr>
            </a:pPr>
            <a:r>
              <a:rPr sz="975" b="1">
                <a:solidFill>
                  <a:srgbClr val="BF3F35"/>
                </a:solidFill>
              </a:rPr>
              <a:t>Unassigned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0913327-9344-4A46-901A-9F27DACE0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73380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</a:defRPr>
            </a:pPr>
            <a:r>
              <a:rPr sz="975" b="0">
                <a:solidFill>
                  <a:srgbClr val="17212B"/>
                </a:solidFill>
              </a:rPr>
              <a:t>Unassigned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D397C3A-C0C6-4A34-84E8-991964A7F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90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3F35"/>
          </a:solidFill>
          <a:ln xmlns:a="http://schemas.openxmlformats.org/drawingml/2006/main" w="0">
            <a:solidFill>
              <a:srgbClr val="BF3F35"/>
            </a:solidFill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E99B3E3-88CA-4561-9633-58D93E308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71950"/>
            <a:ext cx="10629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D"/>
          </a:solidFill>
          <a:ln xmlns:a="http://schemas.openxmlformats.org/drawingml/2006/main" w="0">
            <a:solidFill>
              <a:srgbClr val="FBFCFD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8C5D19B-DB90-453B-B5F8-38B997E5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706F"/>
                </a:solidFill>
              </a:defRPr>
            </a:pPr>
            <a:r>
              <a:rPr sz="975" b="1">
                <a:solidFill>
                  <a:srgbClr val="0B706F"/>
                </a:solidFill>
              </a:rPr>
              <a:t>DEF-00045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4C42F07-7F17-4E08-88E4-B4BD3F134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248150"/>
            <a:ext cx="3143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</a:defRPr>
            </a:pPr>
            <a:r>
              <a:rPr sz="975" b="0">
                <a:solidFill>
                  <a:srgbClr val="17212B"/>
                </a:solidFill>
              </a:rPr>
              <a:t>VIB_FAIL on PRD-00056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DCC354A-8BB8-441C-94A1-66A7012D1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267200"/>
            <a:ext cx="495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F3F35"/>
                </a:solidFill>
              </a:defRPr>
            </a:pPr>
            <a:r>
              <a:rPr sz="975" b="1">
                <a:solidFill>
                  <a:srgbClr val="BF3F35"/>
                </a:solidFill>
              </a:rPr>
              <a:t>MO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437FC5E-E931-452E-8C35-96F5E7574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257675"/>
            <a:ext cx="1409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0EE"/>
          </a:solidFill>
          <a:ln xmlns:a="http://schemas.openxmlformats.org/drawingml/2006/main" w="0">
            <a:solidFill>
              <a:srgbClr val="FFF0EE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9616D31-8136-4182-8ABE-C16F94FE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76725"/>
            <a:ext cx="1295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F3F35"/>
                </a:solidFill>
              </a:defRPr>
            </a:pPr>
            <a:r>
              <a:rPr sz="975" b="1">
                <a:solidFill>
                  <a:srgbClr val="BF3F35"/>
                </a:solidFill>
              </a:rPr>
              <a:t>Unassigned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6BF2944-A5C1-4C01-AD4A-4318AFD22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57675"/>
            <a:ext cx="1409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0EE"/>
          </a:solidFill>
          <a:ln xmlns:a="http://schemas.openxmlformats.org/drawingml/2006/main" w="0">
            <a:solidFill>
              <a:srgbClr val="FFF0EE"/>
            </a:solidFill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4B618A4-23D4-43DB-B405-3BA6007F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276725"/>
            <a:ext cx="1295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F3F35"/>
                </a:solidFill>
              </a:defRPr>
            </a:pPr>
            <a:r>
              <a:rPr sz="975" b="1">
                <a:solidFill>
                  <a:srgbClr val="BF3F35"/>
                </a:solidFill>
              </a:rPr>
              <a:t>Unassigned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CA0D6B8-48D7-41FE-A5BF-8BE7B9FF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26720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</a:defRPr>
            </a:pPr>
            <a:r>
              <a:rPr sz="975" b="0">
                <a:solidFill>
                  <a:srgbClr val="17212B"/>
                </a:solidFill>
              </a:rPr>
              <a:t>Unassigned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C90F466-A67D-498E-A371-0158B6F19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324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3F35"/>
          </a:solidFill>
          <a:ln xmlns:a="http://schemas.openxmlformats.org/drawingml/2006/main" w="0">
            <a:solidFill>
              <a:srgbClr val="BF3F35"/>
            </a:solidFill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4A477AA-7CE0-4329-AB44-305A3A2E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05350"/>
            <a:ext cx="10629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78F2847-5F5A-494E-B0EC-CC9280D2A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0060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706F"/>
                </a:solidFill>
              </a:defRPr>
            </a:pPr>
            <a:r>
              <a:rPr sz="975" b="1">
                <a:solidFill>
                  <a:srgbClr val="0B706F"/>
                </a:solidFill>
              </a:rPr>
              <a:t>DEF-00029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05391B8-3E44-41C1-84C0-1312DC6F0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781550"/>
            <a:ext cx="3143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</a:defRPr>
            </a:pPr>
            <a:r>
              <a:rPr sz="975" b="0">
                <a:solidFill>
                  <a:srgbClr val="17212B"/>
                </a:solidFill>
              </a:rPr>
              <a:t>VIB_FAIL on PRD-00491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9904882-083C-4A93-9781-90E2A6401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800600"/>
            <a:ext cx="495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F3F35"/>
                </a:solidFill>
              </a:defRPr>
            </a:pPr>
            <a:r>
              <a:rPr sz="975" b="1">
                <a:solidFill>
                  <a:srgbClr val="BF3F35"/>
                </a:solidFill>
              </a:rPr>
              <a:t>MO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9A0FCA2-7651-465D-B495-67775D92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791075"/>
            <a:ext cx="1409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0EE"/>
          </a:solidFill>
          <a:ln xmlns:a="http://schemas.openxmlformats.org/drawingml/2006/main" w="0">
            <a:solidFill>
              <a:srgbClr val="FFF0EE"/>
            </a:solidFill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AD06D7A-7626-49E3-9188-7ED5388E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10125"/>
            <a:ext cx="1295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F3F35"/>
                </a:solidFill>
              </a:defRPr>
            </a:pPr>
            <a:r>
              <a:rPr sz="975" b="1">
                <a:solidFill>
                  <a:srgbClr val="BF3F35"/>
                </a:solidFill>
              </a:rPr>
              <a:t>Unassigned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8E67515-5BB5-46B1-A4E4-8C3BF0ED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791075"/>
            <a:ext cx="1409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0EE"/>
          </a:solidFill>
          <a:ln xmlns:a="http://schemas.openxmlformats.org/drawingml/2006/main" w="0">
            <a:solidFill>
              <a:srgbClr val="FFF0EE"/>
            </a:solidFill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8B78A70-447E-4C28-ADCF-F67BD6F57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810125"/>
            <a:ext cx="1295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F3F35"/>
                </a:solidFill>
              </a:defRPr>
            </a:pPr>
            <a:r>
              <a:rPr sz="975" b="1">
                <a:solidFill>
                  <a:srgbClr val="BF3F35"/>
                </a:solidFill>
              </a:rPr>
              <a:t>Unassigned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93D2261-340E-473A-A604-4BD91EDAD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80060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</a:defRPr>
            </a:pPr>
            <a:r>
              <a:rPr sz="975" b="0">
                <a:solidFill>
                  <a:srgbClr val="17212B"/>
                </a:solidFill>
              </a:rPr>
              <a:t>Unassigned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1E51B83-6279-4E3A-9D0D-6655AB517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857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3F35"/>
          </a:solidFill>
          <a:ln xmlns:a="http://schemas.openxmlformats.org/drawingml/2006/main" w="0">
            <a:solidFill>
              <a:srgbClr val="BF3F35"/>
            </a:solidFill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BA6B81C-8660-48A3-B884-DBFD66C6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38750"/>
            <a:ext cx="10629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D"/>
          </a:solidFill>
          <a:ln xmlns:a="http://schemas.openxmlformats.org/drawingml/2006/main" w="0">
            <a:solidFill>
              <a:srgbClr val="FBFCFD"/>
            </a:solidFill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59669D8-0B8C-4569-95DA-0B7E69FCA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3400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706F"/>
                </a:solidFill>
              </a:defRPr>
            </a:pPr>
            <a:r>
              <a:rPr sz="975" b="1">
                <a:solidFill>
                  <a:srgbClr val="0B706F"/>
                </a:solidFill>
              </a:rPr>
              <a:t>DEF-00044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A4A3545-FD9F-4300-9C70-3A526287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314950"/>
            <a:ext cx="3143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</a:defRPr>
            </a:pPr>
            <a:r>
              <a:rPr sz="975" b="0">
                <a:solidFill>
                  <a:srgbClr val="17212B"/>
                </a:solidFill>
              </a:rPr>
              <a:t>VIB_FAIL on PRD-00037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E918FBD-1123-437A-96EC-C48A57255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5334000"/>
            <a:ext cx="495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F3F35"/>
                </a:solidFill>
              </a:defRPr>
            </a:pPr>
            <a:r>
              <a:rPr sz="975" b="1">
                <a:solidFill>
                  <a:srgbClr val="BF3F35"/>
                </a:solidFill>
              </a:rPr>
              <a:t>MO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D76E0FF-6BCA-45AB-8C69-E534BAAB9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324475"/>
            <a:ext cx="1409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0EE"/>
          </a:solidFill>
          <a:ln xmlns:a="http://schemas.openxmlformats.org/drawingml/2006/main" w="0">
            <a:solidFill>
              <a:srgbClr val="FFF0EE"/>
            </a:solidFill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8EB75BB-02ED-4FBC-AEBD-5E8C3248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43525"/>
            <a:ext cx="1295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F3F35"/>
                </a:solidFill>
              </a:defRPr>
            </a:pPr>
            <a:r>
              <a:rPr sz="975" b="1">
                <a:solidFill>
                  <a:srgbClr val="BF3F35"/>
                </a:solidFill>
              </a:rPr>
              <a:t>Unassigned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F3F5F31-0CC1-4A80-8D34-723F8F599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324475"/>
            <a:ext cx="1409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0EE"/>
          </a:solidFill>
          <a:ln xmlns:a="http://schemas.openxmlformats.org/drawingml/2006/main" w="0">
            <a:solidFill>
              <a:srgbClr val="FFF0EE"/>
            </a:solidFill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5A20A58-A08D-40AF-81D8-05DB6233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343525"/>
            <a:ext cx="1295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F3F35"/>
                </a:solidFill>
              </a:defRPr>
            </a:pPr>
            <a:r>
              <a:rPr sz="975" b="1">
                <a:solidFill>
                  <a:srgbClr val="BF3F35"/>
                </a:solidFill>
              </a:rPr>
              <a:t>Unassigned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A1AC209-26B8-4D7F-901A-DFA56297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33400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</a:defRPr>
            </a:pPr>
            <a:r>
              <a:rPr sz="975" b="0">
                <a:solidFill>
                  <a:srgbClr val="17212B"/>
                </a:solidFill>
              </a:rPr>
              <a:t>Unassigned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74EAF0C-F117-4CFC-A53A-8C3DE78D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5391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3F35"/>
          </a:solidFill>
          <a:ln xmlns:a="http://schemas.openxmlformats.org/drawingml/2006/main" w="0">
            <a:solidFill>
              <a:srgbClr val="BF3F35"/>
            </a:solidFill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7BB75E7-A150-4A28-896D-3F9FE0B46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864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16F"/>
                </a:solidFill>
              </a:defRPr>
            </a:pPr>
            <a:r>
              <a:rPr sz="975" b="0">
                <a:solidFill>
                  <a:srgbClr val="52616F"/>
                </a:solidFill>
              </a:rPr>
              <a:t>Red dots mark cases where the current follow-up window has elapsed and leadership intervention may be needed.</a:t>
            </a:r>
          </a:p>
        </p:txBody>
      </p:sp>
    </p:spTree>
    <p:extLst>
      <p:ext uri="{BB962C8B-B14F-4D97-AF65-F5344CB8AC3E}">
        <p14:creationId xmlns:p14="http://schemas.microsoft.com/office/powerpoint/2010/main" val="80360328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38EE67A-5EB7-40DD-A2FB-C845C008A8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A4E1F8-7E87-4C1B-9912-D4D2B1F7D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solidFill>
              <a:srgbClr val="F5F7F8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78916D-4E25-45A2-95BA-839061BD3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B706F"/>
                </a:solidFill>
              </a:defRPr>
            </a:pPr>
            <a:r>
              <a:rPr sz="1200" b="1">
                <a:solidFill>
                  <a:srgbClr val="0B706F"/>
                </a:solidFill>
              </a:rPr>
              <a:t>Portfolio 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3D3968-B28F-445E-8E95-F1CB6E6FB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12B"/>
                </a:solidFill>
              </a:defRPr>
            </a:pPr>
            <a:r>
              <a:rPr sz="2100" b="1">
                <a:solidFill>
                  <a:srgbClr val="17212B"/>
                </a:solidFill>
              </a:rPr>
              <a:t>Open-ticket load by team and priority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B0765D-A26A-4D24-BD07-E61313C5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723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6F"/>
                </a:solidFill>
              </a:defRPr>
            </a:pPr>
            <a:r>
              <a:rPr sz="1200" b="0">
                <a:solidFill>
                  <a:srgbClr val="52616F"/>
                </a:solidFill>
              </a:rPr>
              <a:t>Live backlog grouped by routing team. Priority mix highlights where executive attention may be required.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A11421-6EFD-41DE-B911-14693B98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524750" cy="4514850"/>
          </a:xfrm>
          <a:prstGeom xmlns:a="http://schemas.openxmlformats.org/drawingml/2006/main" prst="roundRect">
            <a:avLst>
              <a:gd name="adj" fmla="val 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1D344A-E227-4775-AF72-03959823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733550"/>
            <a:ext cx="3352800" cy="45148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A71769-36A3-462E-9AA2-CF4B6468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343150"/>
            <a:ext cx="63436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5C4DF5-B2A5-4359-B13B-CA5A0D5F1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91100"/>
            <a:ext cx="6343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6"/>
          </a:solidFill>
          <a:ln xmlns:a="http://schemas.openxmlformats.org/drawingml/2006/main" w="0">
            <a:solidFill>
              <a:srgbClr val="D8E0E6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F92728-D1C2-49E4-98C9-3B2210B72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95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6F"/>
                </a:solidFill>
              </a:defRPr>
            </a:pPr>
            <a:r>
              <a:rPr sz="825" b="0">
                <a:solidFill>
                  <a:srgbClr val="52616F"/>
                </a:solidFill>
              </a:rPr>
              <a:t>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239022-8F71-4466-BCDB-EE0765FBD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29113"/>
            <a:ext cx="6343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6"/>
          </a:solidFill>
          <a:ln xmlns:a="http://schemas.openxmlformats.org/drawingml/2006/main" w="0">
            <a:solidFill>
              <a:srgbClr val="D8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CC074F-724E-4D89-AE30-1FD229FCB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33863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6F"/>
                </a:solidFill>
              </a:defRPr>
            </a:pPr>
            <a:r>
              <a:rPr sz="825" b="0">
                <a:solidFill>
                  <a:srgbClr val="52616F"/>
                </a:solidFill>
              </a:rPr>
              <a:t>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AAD1F9-9179-4A8C-9C80-6AF31A68A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67125"/>
            <a:ext cx="6343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6"/>
          </a:solidFill>
          <a:ln xmlns:a="http://schemas.openxmlformats.org/drawingml/2006/main" w="0">
            <a:solidFill>
              <a:srgbClr val="D8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1B37F5-1B9C-468F-A755-03009F16E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71875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6F"/>
                </a:solidFill>
              </a:defRPr>
            </a:pPr>
            <a:r>
              <a:rPr sz="825" b="0">
                <a:solidFill>
                  <a:srgbClr val="52616F"/>
                </a:solidFill>
              </a:rPr>
              <a:t>49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7712E4-BD7A-4651-834B-0AE95E9D9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05138"/>
            <a:ext cx="6343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6"/>
          </a:solidFill>
          <a:ln xmlns:a="http://schemas.openxmlformats.org/drawingml/2006/main" w="0">
            <a:solidFill>
              <a:srgbClr val="D8E0E6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58AAAD-715D-4C96-BA9A-4A34A118D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09888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6F"/>
                </a:solidFill>
              </a:defRPr>
            </a:pPr>
            <a:r>
              <a:rPr sz="825" b="0">
                <a:solidFill>
                  <a:srgbClr val="52616F"/>
                </a:solidFill>
              </a:rPr>
              <a:t>73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3E3615-2154-4835-B843-DF3438067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343150"/>
            <a:ext cx="6343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6"/>
          </a:solidFill>
          <a:ln xmlns:a="http://schemas.openxmlformats.org/drawingml/2006/main" w="0">
            <a:solidFill>
              <a:srgbClr val="D8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F60248-670E-46FF-A154-A03640C42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4790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6F"/>
                </a:solidFill>
              </a:defRPr>
            </a:pPr>
            <a:r>
              <a:rPr sz="825" b="0">
                <a:solidFill>
                  <a:srgbClr val="52616F"/>
                </a:solidFill>
              </a:rPr>
              <a:t>97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0D8F2A-B209-4D53-B0FE-6F0604B67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61481"/>
            <a:ext cx="876300" cy="129619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66A00"/>
          </a:solidFill>
          <a:ln xmlns:a="http://schemas.openxmlformats.org/drawingml/2006/main" w="0">
            <a:solidFill>
              <a:srgbClr val="B66A00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E82309-F1EC-4B4F-950B-6B68DE3D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86350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12B"/>
                </a:solidFill>
              </a:defRPr>
            </a:pPr>
            <a:r>
              <a:rPr sz="975" b="1">
                <a:solidFill>
                  <a:srgbClr val="17212B"/>
                </a:solidFill>
              </a:rPr>
              <a:t>RD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DB6AA9-9CA1-41BC-8D05-79D6EB7AC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257800"/>
            <a:ext cx="876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2616F"/>
                </a:solidFill>
              </a:defRPr>
            </a:pPr>
            <a:r>
              <a:rPr sz="825" b="0">
                <a:solidFill>
                  <a:srgbClr val="52616F"/>
                </a:solidFill>
              </a:rPr>
              <a:t>5 open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256204-EBFC-40DC-A806-E6903451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4317084"/>
            <a:ext cx="876300" cy="674016"/>
          </a:xfrm>
          <a:prstGeom xmlns:a="http://schemas.openxmlformats.org/drawingml/2006/main" prst="roundRect">
            <a:avLst>
              <a:gd name="adj" fmla="val 11305"/>
            </a:avLst>
          </a:prstGeom>
          <a:solidFill xmlns:a="http://schemas.openxmlformats.org/drawingml/2006/main">
            <a:srgbClr val="0F8E8D"/>
          </a:solidFill>
          <a:ln xmlns:a="http://schemas.openxmlformats.org/drawingml/2006/main" w="0">
            <a:solidFill>
              <a:srgbClr val="0F8E8D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4289A6-E8A9-4C81-9AAC-A4C667304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2994974"/>
            <a:ext cx="876300" cy="1322109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B66A00"/>
          </a:solidFill>
          <a:ln xmlns:a="http://schemas.openxmlformats.org/drawingml/2006/main" w="0">
            <a:solidFill>
              <a:srgbClr val="B66A00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9BFA09-849A-4D97-B804-C7B0A998B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2476500"/>
            <a:ext cx="876300" cy="518474"/>
          </a:xfrm>
          <a:prstGeom xmlns:a="http://schemas.openxmlformats.org/drawingml/2006/main" prst="roundRect">
            <a:avLst>
              <a:gd name="adj" fmla="val 14697"/>
            </a:avLst>
          </a:prstGeom>
          <a:solidFill xmlns:a="http://schemas.openxmlformats.org/drawingml/2006/main">
            <a:srgbClr val="BF3F35"/>
          </a:solidFill>
          <a:ln xmlns:a="http://schemas.openxmlformats.org/drawingml/2006/main" w="0">
            <a:solidFill>
              <a:srgbClr val="BF3F35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710908-3F5F-41DA-AD21-E435F2FF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5086350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12B"/>
                </a:solidFill>
              </a:defRPr>
            </a:pPr>
            <a:r>
              <a:rPr sz="975" b="1">
                <a:solidFill>
                  <a:srgbClr val="17212B"/>
                </a:solidFill>
              </a:rPr>
              <a:t>MO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6FDB87-845F-4D1C-A481-E1B47F14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5257800"/>
            <a:ext cx="876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2616F"/>
                </a:solidFill>
              </a:defRPr>
            </a:pPr>
            <a:r>
              <a:rPr sz="825" b="0">
                <a:solidFill>
                  <a:srgbClr val="52616F"/>
                </a:solidFill>
              </a:rPr>
              <a:t>97 open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7F1ED9-4DD4-47FC-9D22-9F703D2D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31863"/>
            <a:ext cx="876300" cy="259237"/>
          </a:xfrm>
          <a:prstGeom xmlns:a="http://schemas.openxmlformats.org/drawingml/2006/main" prst="roundRect">
            <a:avLst>
              <a:gd name="adj" fmla="val 29394"/>
            </a:avLst>
          </a:prstGeom>
          <a:solidFill xmlns:a="http://schemas.openxmlformats.org/drawingml/2006/main">
            <a:srgbClr val="0F8E8D"/>
          </a:solidFill>
          <a:ln xmlns:a="http://schemas.openxmlformats.org/drawingml/2006/main" w="0">
            <a:solidFill>
              <a:srgbClr val="0F8E8D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6187E1-92B8-4EB5-BF06-9B7DEAEFA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94855"/>
            <a:ext cx="876300" cy="337008"/>
          </a:xfrm>
          <a:prstGeom xmlns:a="http://schemas.openxmlformats.org/drawingml/2006/main" prst="roundRect">
            <a:avLst>
              <a:gd name="adj" fmla="val 22611"/>
            </a:avLst>
          </a:prstGeom>
          <a:solidFill xmlns:a="http://schemas.openxmlformats.org/drawingml/2006/main">
            <a:srgbClr val="B66A00"/>
          </a:solidFill>
          <a:ln xmlns:a="http://schemas.openxmlformats.org/drawingml/2006/main" w="0">
            <a:solidFill>
              <a:srgbClr val="B66A00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FBC159-B9C7-4F74-BC98-D29D7213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87525"/>
            <a:ext cx="876300" cy="90733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BF3F35"/>
          </a:solidFill>
          <a:ln xmlns:a="http://schemas.openxmlformats.org/drawingml/2006/main" w="0">
            <a:solidFill>
              <a:srgbClr val="BF3F35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E5E250-EF1C-40DD-A0E6-F55CCBD25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86350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12B"/>
                </a:solidFill>
              </a:defRPr>
            </a:pPr>
            <a:r>
              <a:rPr sz="975" b="1">
                <a:solidFill>
                  <a:srgbClr val="17212B"/>
                </a:solidFill>
              </a:rPr>
              <a:t>SC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3E9843-FE00-4C1A-A121-12A089125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57800"/>
            <a:ext cx="876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2616F"/>
                </a:solidFill>
              </a:defRPr>
            </a:pPr>
            <a:r>
              <a:rPr sz="825" b="0">
                <a:solidFill>
                  <a:srgbClr val="52616F"/>
                </a:solidFill>
              </a:rPr>
              <a:t>58 open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730FB4-7B13-463F-AAB4-9A61D906C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238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8E8D"/>
          </a:solidFill>
          <a:ln xmlns:a="http://schemas.openxmlformats.org/drawingml/2006/main" w="0">
            <a:solidFill>
              <a:srgbClr val="0F8E8D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BB7245-3F10-4FAF-9955-6BF79FCB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219700"/>
            <a:ext cx="800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2616F"/>
                </a:solidFill>
              </a:defRPr>
            </a:pPr>
            <a:r>
              <a:rPr sz="900" b="1">
                <a:solidFill>
                  <a:srgbClr val="52616F"/>
                </a:solidFill>
              </a:rPr>
              <a:t>Low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13C4B0B-37A6-4975-A5F5-D8D82C537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238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66A00"/>
          </a:solidFill>
          <a:ln xmlns:a="http://schemas.openxmlformats.org/drawingml/2006/main" w="0">
            <a:solidFill>
              <a:srgbClr val="B66A00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C3EFBA7-553A-4A85-AF63-BD990BBE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219700"/>
            <a:ext cx="800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2616F"/>
                </a:solidFill>
              </a:defRPr>
            </a:pPr>
            <a:r>
              <a:rPr sz="900" b="1">
                <a:solidFill>
                  <a:srgbClr val="52616F"/>
                </a:solidFill>
              </a:rPr>
              <a:t>Medium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E36A2E-7822-4DE9-B186-2C7C5FB0A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238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F3F35"/>
          </a:solidFill>
          <a:ln xmlns:a="http://schemas.openxmlformats.org/drawingml/2006/main" w="0">
            <a:solidFill>
              <a:srgbClr val="BF3F35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A9351A0-57E8-4E83-BD4F-EB6562491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219700"/>
            <a:ext cx="800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2616F"/>
                </a:solidFill>
              </a:defRPr>
            </a:pPr>
            <a:r>
              <a:rPr sz="900" b="1">
                <a:solidFill>
                  <a:srgbClr val="52616F"/>
                </a:solidFill>
              </a:rPr>
              <a:t>High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D784D08-AE26-4744-A228-0B09F8639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171700"/>
            <a:ext cx="28384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F3F35"/>
                </a:solidFill>
              </a:defRPr>
            </a:pPr>
            <a:r>
              <a:rPr sz="1800" b="1">
                <a:solidFill>
                  <a:srgbClr val="BF3F35"/>
                </a:solidFill>
              </a:rPr>
              <a:t>MO is carrying the heaviest backlog.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6127440-AA21-493A-B51D-8D8B98B5B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895600"/>
            <a:ext cx="28384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16F"/>
                </a:solidFill>
              </a:defRPr>
            </a:pPr>
            <a:r>
              <a:rPr sz="1125" b="0">
                <a:solidFill>
                  <a:srgbClr val="52616F"/>
                </a:solidFill>
              </a:rPr>
              <a:t>MO currently owns 97 open tickets, including 20 high-severity items and 94 overdue follow-ups. That queue scores 203 points above the peer median on the executive backlog index.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A632372-F207-420A-993F-D3ED47E15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114800"/>
            <a:ext cx="2838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D29BBDE-5ECD-4DEE-99F5-A3E2A3BCF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10050"/>
            <a:ext cx="381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12B"/>
                </a:solidFill>
              </a:defRPr>
            </a:pPr>
            <a:r>
              <a:rPr sz="1050" b="1">
                <a:solidFill>
                  <a:srgbClr val="17212B"/>
                </a:solidFill>
              </a:rPr>
              <a:t>RD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454EEE3-4771-44E6-9AD7-6959C7A2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210050"/>
            <a:ext cx="1981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12B"/>
                </a:solidFill>
              </a:defRPr>
            </a:pPr>
            <a:r>
              <a:rPr sz="1050" b="0">
                <a:solidFill>
                  <a:srgbClr val="17212B"/>
                </a:solidFill>
              </a:rPr>
              <a:t>5 open | 0 high | 2 overdue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DDF35E6-FD35-418F-8EFF-DC89D3B3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705350"/>
            <a:ext cx="2838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1B3F02A-9531-4A8D-A875-5A36724CD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800600"/>
            <a:ext cx="381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12B"/>
                </a:solidFill>
              </a:defRPr>
            </a:pPr>
            <a:r>
              <a:rPr sz="1050" b="1">
                <a:solidFill>
                  <a:srgbClr val="17212B"/>
                </a:solidFill>
              </a:rPr>
              <a:t>MO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A90ABAB-F0A7-49B9-B0B8-48CF1BE95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800600"/>
            <a:ext cx="1981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12B"/>
                </a:solidFill>
              </a:defRPr>
            </a:pPr>
            <a:r>
              <a:rPr sz="1050" b="0">
                <a:solidFill>
                  <a:srgbClr val="17212B"/>
                </a:solidFill>
              </a:rPr>
              <a:t>97 open | 20 high | 94 overdue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9DE6CCD-4339-443A-9B97-0142F796B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5295900"/>
            <a:ext cx="2838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A1CD6A8-4B33-4855-BF79-D5820C5AB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391150"/>
            <a:ext cx="381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12B"/>
                </a:solidFill>
              </a:defRPr>
            </a:pPr>
            <a:r>
              <a:rPr sz="1050" b="1">
                <a:solidFill>
                  <a:srgbClr val="17212B"/>
                </a:solidFill>
              </a:rPr>
              <a:t>SC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4FB6BDE-F545-4265-9F5E-8EE43304B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391150"/>
            <a:ext cx="1981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12B"/>
                </a:solidFill>
              </a:defRPr>
            </a:pPr>
            <a:r>
              <a:rPr sz="1050" b="0">
                <a:solidFill>
                  <a:srgbClr val="17212B"/>
                </a:solidFill>
              </a:rPr>
              <a:t>58 open | 35 high | 57 overdue</a:t>
            </a:r>
          </a:p>
        </p:txBody>
      </p:sp>
    </p:spTree>
    <p:extLst>
      <p:ext uri="{BB962C8B-B14F-4D97-AF65-F5344CB8AC3E}">
        <p14:creationId xmlns:p14="http://schemas.microsoft.com/office/powerpoint/2010/main" val="193026759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38EE67A-5EB7-40DD-A2FB-C845C008A8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C94506-5E0D-485F-9B5B-AC2487597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solidFill>
              <a:srgbClr val="F5F7F8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E32B43-0534-4C58-9D01-7CBD58EB0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B706F"/>
                </a:solidFill>
              </a:defRPr>
            </a:pPr>
            <a:r>
              <a:rPr sz="1200" b="1">
                <a:solidFill>
                  <a:srgbClr val="0B706F"/>
                </a:solidFill>
              </a:rPr>
              <a:t>Big-picture updates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65383A-224C-4144-A923-92E189EF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12B"/>
                </a:solidFill>
              </a:defRPr>
            </a:pPr>
            <a:r>
              <a:rPr sz="2100" b="1">
                <a:solidFill>
                  <a:srgbClr val="17212B"/>
                </a:solidFill>
              </a:rPr>
              <a:t>Trend signals for the executive narrative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C7E1A6-508E-4A0A-B7CA-79D09A470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723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6F"/>
                </a:solidFill>
              </a:defRPr>
            </a:pPr>
            <a:r>
              <a:rPr sz="1200" b="0">
                <a:solidFill>
                  <a:srgbClr val="52616F"/>
                </a:solidFill>
              </a:rPr>
              <a:t>A management narrative built from live portfolio signals with light historical backfill where closure data remains sparse.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2C2701-CAAE-4905-B4D9-B7ACA7C33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6477000" cy="4514850"/>
          </a:xfrm>
          <a:prstGeom xmlns:a="http://schemas.openxmlformats.org/drawingml/2006/main" prst="roundRect">
            <a:avLst>
              <a:gd name="adj" fmla="val 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AF9B13-CD24-4B05-8BBE-615A71B7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733550"/>
            <a:ext cx="4400550" cy="4514850"/>
          </a:xfrm>
          <a:prstGeom xmlns:a="http://schemas.openxmlformats.org/drawingml/2006/main" prst="roundRect">
            <a:avLst>
              <a:gd name="adj" fmla="val 17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5E27FA-78EB-485D-8D76-08FB70C8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43150"/>
            <a:ext cx="53721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AE93A9-C749-4550-A4F1-605F0D88C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5372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6"/>
          </a:solidFill>
          <a:ln xmlns:a="http://schemas.openxmlformats.org/drawingml/2006/main" w="0">
            <a:solidFill>
              <a:srgbClr val="D8E0E6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66A420-2A01-4FEC-9C99-EF7017F56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95850"/>
            <a:ext cx="266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6F"/>
                </a:solidFill>
              </a:defRPr>
            </a:pPr>
            <a:r>
              <a:rPr sz="825" b="0">
                <a:solidFill>
                  <a:srgbClr val="52616F"/>
                </a:solidFill>
              </a:rPr>
              <a:t>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0BD3D4-B7F5-494B-9DEF-9B0B2ED3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29113"/>
            <a:ext cx="5372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6"/>
          </a:solidFill>
          <a:ln xmlns:a="http://schemas.openxmlformats.org/drawingml/2006/main" w="0">
            <a:solidFill>
              <a:srgbClr val="D8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39024D-1771-4E9C-A5D6-A91B1B512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33863"/>
            <a:ext cx="266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6F"/>
                </a:solidFill>
              </a:defRPr>
            </a:pPr>
            <a:r>
              <a:rPr sz="825" b="0">
                <a:solidFill>
                  <a:srgbClr val="52616F"/>
                </a:solidFill>
              </a:rPr>
              <a:t>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07D2DD-680A-4612-833E-96B7BC8CD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67125"/>
            <a:ext cx="5372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6"/>
          </a:solidFill>
          <a:ln xmlns:a="http://schemas.openxmlformats.org/drawingml/2006/main" w="0">
            <a:solidFill>
              <a:srgbClr val="D8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05CD44-4C4E-458D-9E45-1AF050A28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71875"/>
            <a:ext cx="266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6F"/>
                </a:solidFill>
              </a:defRPr>
            </a:pPr>
            <a:r>
              <a:rPr sz="825" b="0">
                <a:solidFill>
                  <a:srgbClr val="52616F"/>
                </a:solidFill>
              </a:rPr>
              <a:t>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5DBF4D-25E3-4C92-B915-27D11161A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05138"/>
            <a:ext cx="5372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6"/>
          </a:solidFill>
          <a:ln xmlns:a="http://schemas.openxmlformats.org/drawingml/2006/main" w="0">
            <a:solidFill>
              <a:srgbClr val="D8E0E6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5B3E1C-FB49-43D8-9606-406122EA8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09888"/>
            <a:ext cx="266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6F"/>
                </a:solidFill>
              </a:defRPr>
            </a:pPr>
            <a:r>
              <a:rPr sz="825" b="0">
                <a:solidFill>
                  <a:srgbClr val="52616F"/>
                </a:solidFill>
              </a:rPr>
              <a:t>17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DA66B4-E731-4A95-9C10-D5BBF0F02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43150"/>
            <a:ext cx="5372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6"/>
          </a:solidFill>
          <a:ln xmlns:a="http://schemas.openxmlformats.org/drawingml/2006/main" w="0">
            <a:solidFill>
              <a:srgbClr val="D8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31D665-C1E2-4F2C-B950-578AE788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47900"/>
            <a:ext cx="266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6F"/>
                </a:solidFill>
              </a:defRPr>
            </a:pPr>
            <a:r>
              <a:rPr sz="825" b="0">
                <a:solidFill>
                  <a:srgbClr val="52616F"/>
                </a:solidFill>
              </a:rPr>
              <a:t>23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F9A4C8-9775-4009-B933-270227F3B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76500"/>
            <a:ext cx="468630" cy="2514600"/>
          </a:xfrm>
          <a:prstGeom xmlns:a="http://schemas.openxmlformats.org/drawingml/2006/main" prst="roundRect">
            <a:avLst>
              <a:gd name="adj" fmla="val 16260"/>
            </a:avLst>
          </a:prstGeom>
          <a:solidFill xmlns:a="http://schemas.openxmlformats.org/drawingml/2006/main">
            <a:srgbClr val="BF3F35"/>
          </a:solidFill>
          <a:ln xmlns:a="http://schemas.openxmlformats.org/drawingml/2006/main" w="0">
            <a:solidFill>
              <a:srgbClr val="BF3F3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8BD020-8872-45E0-9A80-8C6B62126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67300"/>
            <a:ext cx="54483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52616F"/>
                </a:solidFill>
              </a:defRPr>
            </a:pPr>
            <a:r>
              <a:rPr sz="750" b="0">
                <a:solidFill>
                  <a:srgbClr val="52616F"/>
                </a:solidFill>
              </a:rPr>
              <a:t>Jan 26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E27179-886B-4AD4-A84A-87EFF5ADE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980" y="3460474"/>
            <a:ext cx="468630" cy="1530626"/>
          </a:xfrm>
          <a:prstGeom xmlns:a="http://schemas.openxmlformats.org/drawingml/2006/main" prst="roundRect">
            <a:avLst>
              <a:gd name="adj" fmla="val 16260"/>
            </a:avLst>
          </a:prstGeom>
          <a:solidFill xmlns:a="http://schemas.openxmlformats.org/drawingml/2006/main">
            <a:srgbClr val="0F8E8D"/>
          </a:solidFill>
          <a:ln xmlns:a="http://schemas.openxmlformats.org/drawingml/2006/main" w="0">
            <a:solidFill>
              <a:srgbClr val="0F8E8D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E4880E-59E8-4201-862F-7C6D3046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9810" y="2913822"/>
            <a:ext cx="468630" cy="2077278"/>
          </a:xfrm>
          <a:prstGeom xmlns:a="http://schemas.openxmlformats.org/drawingml/2006/main" prst="roundRect">
            <a:avLst>
              <a:gd name="adj" fmla="val 16260"/>
            </a:avLst>
          </a:prstGeom>
          <a:solidFill xmlns:a="http://schemas.openxmlformats.org/drawingml/2006/main">
            <a:srgbClr val="B66A00"/>
          </a:solidFill>
          <a:ln xmlns:a="http://schemas.openxmlformats.org/drawingml/2006/main" w="0">
            <a:solidFill>
              <a:srgbClr val="B66A00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0F610B-2C43-40E1-91C1-DE99DC57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1710" y="5067300"/>
            <a:ext cx="54483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52616F"/>
                </a:solidFill>
              </a:defRPr>
            </a:pPr>
            <a:r>
              <a:rPr sz="750" b="0">
                <a:solidFill>
                  <a:srgbClr val="52616F"/>
                </a:solidFill>
              </a:rPr>
              <a:t>Feb 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02447F-EBB7-40A6-B38E-B1D86B16B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4225787"/>
            <a:ext cx="468630" cy="765313"/>
          </a:xfrm>
          <a:prstGeom xmlns:a="http://schemas.openxmlformats.org/drawingml/2006/main" prst="roundRect">
            <a:avLst>
              <a:gd name="adj" fmla="val 16260"/>
            </a:avLst>
          </a:prstGeom>
          <a:solidFill xmlns:a="http://schemas.openxmlformats.org/drawingml/2006/main">
            <a:srgbClr val="0F8E8D"/>
          </a:solidFill>
          <a:ln xmlns:a="http://schemas.openxmlformats.org/drawingml/2006/main" w="0">
            <a:solidFill>
              <a:srgbClr val="0F8E8D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C7CE6D-CB23-446D-96EE-4F6742F83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9470" y="4335117"/>
            <a:ext cx="468630" cy="655983"/>
          </a:xfrm>
          <a:prstGeom xmlns:a="http://schemas.openxmlformats.org/drawingml/2006/main" prst="roundRect">
            <a:avLst>
              <a:gd name="adj" fmla="val 16260"/>
            </a:avLst>
          </a:prstGeom>
          <a:solidFill xmlns:a="http://schemas.openxmlformats.org/drawingml/2006/main">
            <a:srgbClr val="0F8E8D"/>
          </a:solidFill>
          <a:ln xmlns:a="http://schemas.openxmlformats.org/drawingml/2006/main" w="0">
            <a:solidFill>
              <a:srgbClr val="0F8E8D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94F7B9-5DC9-4B46-967B-6F6810A2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1370" y="5067300"/>
            <a:ext cx="54483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52616F"/>
                </a:solidFill>
              </a:defRPr>
            </a:pPr>
            <a:r>
              <a:rPr sz="750" b="0">
                <a:solidFill>
                  <a:srgbClr val="52616F"/>
                </a:solidFill>
              </a:rPr>
              <a:t>Feb 23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2FA646-ABFF-4BFB-8E68-0D367EABA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116457"/>
            <a:ext cx="468630" cy="874643"/>
          </a:xfrm>
          <a:prstGeom xmlns:a="http://schemas.openxmlformats.org/drawingml/2006/main" prst="roundRect">
            <a:avLst>
              <a:gd name="adj" fmla="val 16260"/>
            </a:avLst>
          </a:prstGeom>
          <a:solidFill xmlns:a="http://schemas.openxmlformats.org/drawingml/2006/main">
            <a:srgbClr val="0F8E8D"/>
          </a:solidFill>
          <a:ln xmlns:a="http://schemas.openxmlformats.org/drawingml/2006/main" w="0">
            <a:solidFill>
              <a:srgbClr val="0F8E8D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AED49E-D9E4-4C6F-B1F1-559510B5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9130" y="3460474"/>
            <a:ext cx="468630" cy="1530626"/>
          </a:xfrm>
          <a:prstGeom xmlns:a="http://schemas.openxmlformats.org/drawingml/2006/main" prst="roundRect">
            <a:avLst>
              <a:gd name="adj" fmla="val 16260"/>
            </a:avLst>
          </a:prstGeom>
          <a:solidFill xmlns:a="http://schemas.openxmlformats.org/drawingml/2006/main">
            <a:srgbClr val="0F8E8D"/>
          </a:solidFill>
          <a:ln xmlns:a="http://schemas.openxmlformats.org/drawingml/2006/main" w="0">
            <a:solidFill>
              <a:srgbClr val="0F8E8D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969714-E69D-4347-BFE7-E149FCC7A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1030" y="5067300"/>
            <a:ext cx="54483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52616F"/>
                </a:solidFill>
              </a:defRPr>
            </a:pPr>
            <a:r>
              <a:rPr sz="750" b="0">
                <a:solidFill>
                  <a:srgbClr val="52616F"/>
                </a:solidFill>
              </a:rPr>
              <a:t>Mar 9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40791A-36B6-4450-8AF9-AF11C5238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3960" y="4225787"/>
            <a:ext cx="468630" cy="765313"/>
          </a:xfrm>
          <a:prstGeom xmlns:a="http://schemas.openxmlformats.org/drawingml/2006/main" prst="roundRect">
            <a:avLst>
              <a:gd name="adj" fmla="val 16260"/>
            </a:avLst>
          </a:prstGeom>
          <a:solidFill xmlns:a="http://schemas.openxmlformats.org/drawingml/2006/main">
            <a:srgbClr val="0F8E8D"/>
          </a:solidFill>
          <a:ln xmlns:a="http://schemas.openxmlformats.org/drawingml/2006/main" w="0">
            <a:solidFill>
              <a:srgbClr val="0F8E8D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F12C60-D06B-42DF-AF24-6EC4C014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8790" y="4116457"/>
            <a:ext cx="468630" cy="874643"/>
          </a:xfrm>
          <a:prstGeom xmlns:a="http://schemas.openxmlformats.org/drawingml/2006/main" prst="roundRect">
            <a:avLst>
              <a:gd name="adj" fmla="val 16260"/>
            </a:avLst>
          </a:prstGeom>
          <a:solidFill xmlns:a="http://schemas.openxmlformats.org/drawingml/2006/main">
            <a:srgbClr val="0F8E8D"/>
          </a:solidFill>
          <a:ln xmlns:a="http://schemas.openxmlformats.org/drawingml/2006/main" w="0">
            <a:solidFill>
              <a:srgbClr val="0F8E8D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2DCE060-3167-42AA-AD55-86A36B1B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0690" y="5067300"/>
            <a:ext cx="54483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52616F"/>
                </a:solidFill>
              </a:defRPr>
            </a:pPr>
            <a:r>
              <a:rPr sz="750" b="0">
                <a:solidFill>
                  <a:srgbClr val="52616F"/>
                </a:solidFill>
              </a:rPr>
              <a:t>Mar 23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A52B31-C257-457D-B670-E1CC2D497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3620" y="4225787"/>
            <a:ext cx="468630" cy="765313"/>
          </a:xfrm>
          <a:prstGeom xmlns:a="http://schemas.openxmlformats.org/drawingml/2006/main" prst="roundRect">
            <a:avLst>
              <a:gd name="adj" fmla="val 16260"/>
            </a:avLst>
          </a:prstGeom>
          <a:solidFill xmlns:a="http://schemas.openxmlformats.org/drawingml/2006/main">
            <a:srgbClr val="0F8E8D"/>
          </a:solidFill>
          <a:ln xmlns:a="http://schemas.openxmlformats.org/drawingml/2006/main" w="0">
            <a:solidFill>
              <a:srgbClr val="0F8E8D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FBD3D2E-7EF5-431F-B2ED-58893219D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5520" y="5067300"/>
            <a:ext cx="54483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52616F"/>
                </a:solidFill>
              </a:defRPr>
            </a:pPr>
            <a:r>
              <a:rPr sz="750" b="0">
                <a:solidFill>
                  <a:srgbClr val="52616F"/>
                </a:solidFill>
              </a:rPr>
              <a:t>Mar 30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2321BC9-D30D-46FE-91D5-85F8C41C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00700"/>
            <a:ext cx="5943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16F"/>
                </a:solidFill>
              </a:defRPr>
            </a:pPr>
            <a:r>
              <a:rPr sz="1050" b="0">
                <a:solidFill>
                  <a:srgbClr val="52616F"/>
                </a:solidFill>
              </a:rPr>
              <a:t>The trend highlights the December defect spike and the softer run rate visible after the supplier transition.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55BD166-9954-4126-B781-A4930D1A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38350"/>
            <a:ext cx="390525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EAF7F0"/>
          </a:solidFill>
          <a:ln xmlns:a="http://schemas.openxmlformats.org/drawingml/2006/main" w="0">
            <a:solidFill>
              <a:srgbClr val="EAF7F0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FF1A054-09C3-4FCC-B5A2-A993EB258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5265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A8D55"/>
                </a:solidFill>
              </a:defRPr>
            </a:pPr>
            <a:r>
              <a:rPr sz="1200" b="1">
                <a:solidFill>
                  <a:srgbClr val="1A8D55"/>
                </a:solidFill>
              </a:rPr>
              <a:t>December spike has eased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8F43D38-C37E-45E6-B35B-E0E1B609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133600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17212B"/>
                </a:solidFill>
              </a:defRPr>
            </a:pPr>
            <a:r>
              <a:rPr sz="1800" b="1">
                <a:solidFill>
                  <a:srgbClr val="17212B"/>
                </a:solidFill>
              </a:rPr>
              <a:t>-61%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26C3C15-4944-4AC0-B3D1-9E38B9C8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57450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16F"/>
                </a:solidFill>
              </a:defRPr>
            </a:pPr>
            <a:r>
              <a:rPr sz="825" b="1">
                <a:solidFill>
                  <a:srgbClr val="52616F"/>
                </a:solidFill>
              </a:rPr>
              <a:t>Peak to current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92C76C-1E34-4D1A-80A3-5D50583CE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514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</a:defRPr>
            </a:pPr>
            <a:r>
              <a:rPr sz="975" b="0">
                <a:solidFill>
                  <a:srgbClr val="17212B"/>
                </a:solidFill>
              </a:rPr>
              <a:t>Weekly incidents peaked around Dec 1 and have since settled into a lower run rate. This gives leadership a cleaner baseline heading into the next supplier and production review. Rework activity in the briefing context is now concentrated in 2026-03-16, 2026-03-23, 2026-03-30, 2026-04-13, which supports a narrower improvement push.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C0D5BE0-5692-4E5A-B9B4-A5C3B3921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314700"/>
            <a:ext cx="390525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EAF7F0"/>
          </a:solidFill>
          <a:ln xmlns:a="http://schemas.openxmlformats.org/drawingml/2006/main" w="0">
            <a:solidFill>
              <a:srgbClr val="EAF7F0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9AE82C9-A538-461B-8797-8D9A1978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4290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A8D55"/>
                </a:solidFill>
              </a:defRPr>
            </a:pPr>
            <a:r>
              <a:rPr sz="1200" b="1">
                <a:solidFill>
                  <a:srgbClr val="1A8D55"/>
                </a:solidFill>
              </a:rPr>
              <a:t>Supplier-change signal is improving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0AF0327-3773-4EE9-956F-9D2FFEBB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409950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17212B"/>
                </a:solidFill>
              </a:defRPr>
            </a:pPr>
            <a:r>
              <a:rPr sz="1800" b="1">
                <a:solidFill>
                  <a:srgbClr val="17212B"/>
                </a:solidFill>
              </a:rPr>
              <a:t>-25%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7F3F939-8094-45A9-AD55-C65DFB5F6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733800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16F"/>
                </a:solidFill>
              </a:defRPr>
            </a:pPr>
            <a:r>
              <a:rPr sz="825" b="1">
                <a:solidFill>
                  <a:srgbClr val="52616F"/>
                </a:solidFill>
              </a:rPr>
              <a:t>Supplier-linked watchlist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324CBE0-0452-49F4-886A-6B939FEC7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79095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</a:defRPr>
            </a:pPr>
            <a:r>
              <a:rPr sz="975" b="0">
                <a:solidFill>
                  <a:srgbClr val="17212B"/>
                </a:solidFill>
              </a:rPr>
              <a:t>Using the current portfolio plus seeded history, supplier-linked issues are trending down versus the January baseline after the component-source change implemented roughly three months ago.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D0CEF04-1B90-4D55-8B59-DF5B37BA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591050"/>
            <a:ext cx="390525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FFF0EE"/>
          </a:solidFill>
          <a:ln xmlns:a="http://schemas.openxmlformats.org/drawingml/2006/main" w="0">
            <a:solidFill>
              <a:srgbClr val="FFF0EE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5C31439-A8CF-484E-B62D-F6FEED800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70535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F3F35"/>
                </a:solidFill>
              </a:defRPr>
            </a:pPr>
            <a:r>
              <a:rPr sz="1200" b="1">
                <a:solidFill>
                  <a:srgbClr val="BF3F35"/>
                </a:solidFill>
              </a:rPr>
              <a:t>Backlog concentration needs attention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9611E73-15D2-4CF2-9C94-5B95E6AF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686300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17212B"/>
                </a:solidFill>
              </a:defRPr>
            </a:pPr>
            <a:r>
              <a:rPr sz="1800" b="1">
                <a:solidFill>
                  <a:srgbClr val="17212B"/>
                </a:solidFill>
              </a:rPr>
              <a:t>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C775837-DB2C-4BEB-A78A-5D8E2CFC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010150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16F"/>
                </a:solidFill>
              </a:defRPr>
            </a:pPr>
            <a:r>
              <a:rPr sz="825" b="1">
                <a:solidFill>
                  <a:srgbClr val="52616F"/>
                </a:solidFill>
              </a:rPr>
              <a:t>High severity open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DD5F219-EF7B-4E67-B54C-DB1C53A2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0673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</a:defRPr>
            </a:pPr>
            <a:r>
              <a:rPr sz="975" b="0">
                <a:solidFill>
                  <a:srgbClr val="17212B"/>
                </a:solidFill>
              </a:rPr>
              <a:t>MO currently owns 97 open tickets, including 20 high-severity items and 94 overdue follow-ups. That queue scores 203 points above the peer median on the executive backlog index.</a:t>
            </a:r>
          </a:p>
        </p:txBody>
      </p:sp>
    </p:spTree>
    <p:extLst>
      <p:ext uri="{BB962C8B-B14F-4D97-AF65-F5344CB8AC3E}">
        <p14:creationId xmlns:p14="http://schemas.microsoft.com/office/powerpoint/2010/main" val="14023462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2026-04-19T05:42:37.0720000Z</dcterms:created>
  <dcterms:modified xsi:type="dcterms:W3CDTF">2026-04-19T05:42:37.0720000Z</dcterms:modified>
</coreProperties>
</file>