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d87561d1c943dc" /><Relationship Type="http://schemas.openxmlformats.org/officeDocument/2006/relationships/extended-properties" Target="/docProps/app.xml" Id="Rc90a281bdafd499d" /><Relationship Type="http://schemas.openxmlformats.org/officeDocument/2006/relationships/officeDocument" Target="/ppt/presentation.xml" Id="Rc0107ef492c4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a5437ccf14a29"/>
  </p:sldMasterIdLst>
  <p:notesMasterIdLst>
    <p:notesMasterId xmlns:r="http://schemas.openxmlformats.org/officeDocument/2006/relationships" r:id="R14cda5e14f1c4259"/>
  </p:notesMasterIdLst>
  <p:sldIdLst>
    <p:sldId xmlns:r="http://schemas.openxmlformats.org/officeDocument/2006/relationships" id="256" r:id="R8a922de8403a4cbc"/>
    <p:sldId xmlns:r="http://schemas.openxmlformats.org/officeDocument/2006/relationships" id="257" r:id="R18bb5e8a29464123"/>
    <p:sldId xmlns:r="http://schemas.openxmlformats.org/officeDocument/2006/relationships" id="258" r:id="Refd0aa9868da4558"/>
    <p:sldId xmlns:r="http://schemas.openxmlformats.org/officeDocument/2006/relationships" id="259" r:id="Rde4f8f6cacad45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a5437ccf14a29" /><Relationship Type="http://schemas.openxmlformats.org/officeDocument/2006/relationships/theme" Target="/ppt/theme/theme1.xml" Id="Ra5e6dd70b95042be" /><Relationship Type="http://schemas.openxmlformats.org/officeDocument/2006/relationships/notesMaster" Target="/ppt/notesMasters/notesMaster1.xml" Id="R14cda5e14f1c4259" /><Relationship Type="http://schemas.openxmlformats.org/officeDocument/2006/relationships/presProps" Target="/ppt/presProps.xml" Id="Rc6687a8958704db6" /><Relationship Type="http://schemas.openxmlformats.org/officeDocument/2006/relationships/viewProps" Target="/ppt/viewProps.xml" Id="R966ec0ddd92c4663" /><Relationship Type="http://schemas.openxmlformats.org/officeDocument/2006/relationships/tableStyles" Target="/ppt/tableStyles.xml" Id="R18f626fe3f2c4578" /><Relationship Type="http://schemas.openxmlformats.org/officeDocument/2006/relationships/slide" Target="/ppt/slides/slide1.xml" Id="R8a922de8403a4cbc" /><Relationship Type="http://schemas.openxmlformats.org/officeDocument/2006/relationships/slide" Target="/ppt/slides/slide2.xml" Id="R18bb5e8a29464123" /><Relationship Type="http://schemas.openxmlformats.org/officeDocument/2006/relationships/slide" Target="/ppt/slides/slide3.xml" Id="Refd0aa9868da4558" /><Relationship Type="http://schemas.openxmlformats.org/officeDocument/2006/relationships/slide" Target="/ppt/slides/slide4.xml" Id="Rde4f8f6cacad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0c2fb2c57b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bb7259b3a4225" /><Relationship Type="http://schemas.openxmlformats.org/officeDocument/2006/relationships/notesMaster" Target="/ppt/notesMasters/notesMaster1.xml" Id="R6febade59a18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9d7cfbeb0a45d3" /><Relationship Type="http://schemas.openxmlformats.org/officeDocument/2006/relationships/notesMaster" Target="/ppt/notesMasters/notesMaster1.xml" Id="R252294c6b4844f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92c4e1d5a421f" /><Relationship Type="http://schemas.openxmlformats.org/officeDocument/2006/relationships/notesMaster" Target="/ppt/notesMasters/notesMaster1.xml" Id="Refbe097f624a47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fbbd63983442e" /><Relationship Type="http://schemas.openxmlformats.org/officeDocument/2006/relationships/notesMaster" Target="/ppt/notesMasters/notesMaster1.xml" Id="Rd40419a5dc5645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b514315d84c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CEF8999-2B9A-43AC-9BBF-C4FB1C79719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B7EB576-06F4-4666-89A0-300E4175D7A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BD6D9B-344B-4638-83F0-ABDF3E30811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6846A9-56AC-43AD-BE3A-02359D2C87F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0B9E6-D1CD-4D78-BE01-E7D92F1A92B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c33028f068409a" /><Relationship Type="http://schemas.openxmlformats.org/officeDocument/2006/relationships/slideLayout" Target="/ppt/slideLayouts/slideLayout2.xml" Id="Rb2fb9132f90b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55E8CE-25C0-47C3-BFAD-9B22B515D28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fb9132f90b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c5824d54de465f" /><Relationship Type="http://schemas.openxmlformats.org/officeDocument/2006/relationships/notesSlide" Target="/ppt/notesSlides/notesSlide1.xml" Id="R267d9a1396a945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0803a7254e4d9a" /><Relationship Type="http://schemas.openxmlformats.org/officeDocument/2006/relationships/notesSlide" Target="/ppt/notesSlides/notesSlide2.xml" Id="R0fae91aa568f4a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f30788c4854dd9" /><Relationship Type="http://schemas.openxmlformats.org/officeDocument/2006/relationships/notesSlide" Target="/ppt/notesSlides/notesSlide3.xml" Id="R0ba5d61da615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b5eae1576a4bde" /><Relationship Type="http://schemas.openxmlformats.org/officeDocument/2006/relationships/notesSlide" Target="/ppt/notesSlides/notesSlide4.xml" Id="Rdf5b2f13155341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0B9E6-D1CD-4D78-BE01-E7D92F1A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ED2EC-8339-4047-A111-81E10671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83409-EA8F-4F0C-9E6F-2BD31F1B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605790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2323E-C087-4288-A5A1-BD65C74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0">
            <a:solidFill>
              <a:srgbClr val="E6F7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6AD8D-7609-4104-ADD2-2666440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66750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2F1"/>
          </a:solidFill>
          <a:ln xmlns:a="http://schemas.openxmlformats.org/drawingml/2006/main" w="0">
            <a:solidFill>
              <a:srgbClr val="D6F2F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ADA7A-4E11-46B7-A042-65AA5F2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143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5A8F-9FC4-45B4-A75F-76130F5D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5BA9F-8D12-43D1-AAB0-7564DBE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F5E73-19E7-4F5E-B460-30E625C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06F"/>
                </a:solidFill>
              </a:defRPr>
            </a:pPr>
            <a:r>
              <a:rPr sz="1650" b="1">
                <a:solidFill>
                  <a:srgbClr val="0B706F"/>
                </a:solidFill>
              </a:rPr>
              <a:t>Qontrol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9639C-8281-4BE7-90F0-D069EC47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Weekly CEO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0DE36-0EE1-4FAE-A3F4-0EA47CF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F"/>
                </a:solidFill>
              </a:defRPr>
            </a:pPr>
            <a:r>
              <a:rPr sz="1350" b="0">
                <a:solidFill>
                  <a:srgbClr val="52616F"/>
                </a:solidFill>
              </a:rPr>
              <a:t>Executive quality snapshot for Apr 13 - Apr 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07DF1-A91E-4CFF-81D8-F8A81CD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143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2862D-30F3-40F0-B303-FBA68BE9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Generated Apr 19, 2026, 8:55 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6D3C5-6E99-4132-B02B-DCCC9BF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Prepared for the weekly executive quality review. This deck combines the live open-ticket portfolio with seeded context where historical closure data is still sparse.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FCE4E-B364-405D-A09B-E36AD03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59F77-3922-498A-839E-DD204A57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Open 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78D34-C2AE-4444-8B23-C56F1A5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160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2D7AA-6400-4E23-8C1F-C349285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D448B-EC81-4205-AFF7-CB7BEB5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High 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B6C2B-69AF-4A98-BE52-16CA9C7C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4A8AC-8768-47D5-AA12-ED65471A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C7E19-E2AD-49DC-B61C-785CCE6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19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6F"/>
                </a:solidFill>
              </a:defRPr>
            </a:pPr>
            <a:r>
              <a:rPr sz="1050" b="1">
                <a:solidFill>
                  <a:srgbClr val="52616F"/>
                </a:solidFill>
              </a:rPr>
              <a:t>Overdue follow-up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B168A-797F-4B97-B06C-728ED0CA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05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</a:defRPr>
            </a:pPr>
            <a:r>
              <a:rPr sz="2400" b="1">
                <a:solidFill>
                  <a:srgbClr val="17212B"/>
                </a:solidFill>
              </a:rPr>
              <a:t>133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C9C13-99B7-4BC8-9E63-C92852E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0099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D3774-771B-4E91-A074-8E5917E0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16F"/>
                </a:solidFill>
              </a:defRPr>
            </a:pPr>
            <a:r>
              <a:rPr sz="1200" b="1">
                <a:solidFill>
                  <a:srgbClr val="52616F"/>
                </a:solidFill>
              </a:rPr>
              <a:t>Executive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CCC1E-3960-4E8F-8F21-45AF8F3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3F35"/>
                </a:solidFill>
              </a:defRPr>
            </a:pPr>
            <a:r>
              <a:rPr sz="1800" b="1">
                <a:solidFill>
                  <a:srgbClr val="BF3F35"/>
                </a:solidFill>
              </a:rPr>
              <a:t>MO is carrying the heaviest backlog.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477A3-7537-469F-9C7E-22F28FB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438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F"/>
                </a:solidFill>
              </a:defRPr>
            </a:pPr>
            <a:r>
              <a:rPr sz="1125" b="0">
                <a:solidFill>
                  <a:srgbClr val="52616F"/>
                </a:solidFill>
              </a:rPr>
              <a:t>MO currently owns 97 open tickets, including 20 high-severity items and 74 overdue follow-ups. That queue scores 123 points above the peer median on the executive backlog index.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A34BF-F351-475D-9199-9DA2B9B1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2D181D-63D0-4223-9B07-13F5A6B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67325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3F35"/>
                </a:solidFill>
              </a:defRPr>
            </a:pPr>
            <a:r>
              <a:rPr sz="900" b="1">
                <a:solidFill>
                  <a:srgbClr val="BF3F35"/>
                </a:solidFill>
              </a:rPr>
              <a:t>Needs executive attention</a:t>
            </a:r>
          </a:p>
        </p:txBody>
      </p:sp>
    </p:spTree>
    <p:extLst>
      <p:ext uri="{BB962C8B-B14F-4D97-AF65-F5344CB8AC3E}">
        <p14:creationId xmlns:p14="http://schemas.microsoft.com/office/powerpoint/2010/main" val="12162711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0B9E6-D1CD-4D78-BE01-E7D92F1A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5F8AD-3B4F-4433-BD51-7B281972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1B76-20FA-4ED3-B30F-64D50DB1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High-severity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62222-FF7E-4046-886D-4E42F03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Specific tickets and weekly status movement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AA2E-1E0A-4F4B-94D6-6537613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Current live backlog for the top high-severity tickets. Comparing Apr 12 to Apr 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1189B-58D6-42A4-B2C7-9193542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871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6AC0E-BB82-4934-B6B8-4C69CEA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9477B-3484-4F39-9E12-928DC240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C43F4-D1F8-4C21-BC98-EB859BD4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145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5E693-7F5B-4959-B816-1BD8B46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9A1CB-E255-425D-9775-643A68E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Status Apr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D8B00-84AB-4C76-AFB4-69B8BEDF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1504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Status Apr 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85A4-EAF4-4B81-A237-B9E69FC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4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16F"/>
                </a:solidFill>
              </a:defRPr>
            </a:pPr>
            <a:r>
              <a:rPr sz="975" b="1">
                <a:solidFill>
                  <a:srgbClr val="52616F"/>
                </a:solidFill>
              </a:rPr>
              <a:t>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6FFB8-D823-4036-BCE0-59A21DA5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12F71-C0AB-4AA7-8EDD-4397487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13401-770A-494A-82C1-0D99E3A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47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23C89-F2DD-459F-A290-3D1C646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89146-9F4B-401C-8530-71143400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57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FC407-2B9C-4F58-82F4-021CF790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887C8-E371-4946-A37F-BAFEEB5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57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D0509-DF57-4CF8-B44D-6C4ACEC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76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3F4E7-C4E3-4EC6-B73F-1ADA6C5D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1FEEF-6100-46CC-A280-DF7B412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021CB-6C3A-468D-A957-F1B4359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FBFCF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F2190-2853-4B02-ABBB-DE43EE7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7EAC8-2236-4B98-853F-1F476C7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813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E2873-E5A4-4C28-B6F7-F3A57419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AC0F0-15CA-4CDC-878D-B7D55C2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89B97-6877-4FA2-9E3B-D4370AF9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6B41E-0A83-4F9C-BB02-5904E182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908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D9E69-084E-469D-A728-2727EB00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99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21E65-8C06-46BD-9C13-2E29F59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3C847-1A14-4B14-970D-6102BBF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EFA8B-3D8F-45A0-BE9E-2040E8E6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919C2A-39F3-4062-A110-CED3E964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D862B2-9DF2-44E7-A294-4425BD7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147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4D08D-DEB3-44CF-9BAD-7CA168C7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C3837A-0F8F-4751-81C9-108F92EC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242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61696C-82BD-4671-B8EF-F6AA270D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2B449F-376D-4ADC-81D9-EDEB8701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242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DAC967-7864-4467-9B59-8F6EB94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433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52A66E-339F-479F-8B36-0EB2FFBB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D9AA8A-1547-487E-A92B-E9E96CB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6648BA-767B-4FE9-A2EE-1D36B3F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FBFCF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6B7BA3-A330-474E-805F-1F588D9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021218-C739-4CB8-96AF-EB26D3B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481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PRD-00027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7EE71A-9BC2-4DBA-8920-013FF528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672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4FF60-9C30-4C22-9491-76DDDD00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576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BCBB93-DB41-4D85-AF05-1BC06E6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9FC66-4BCA-4CF1-891A-D797E01C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4CE1CD-FEC2-430F-86CF-643309F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767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59F7BF-32A1-4310-96A2-2DA0688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67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A85EB6-498A-4DE3-8A0B-6A935E4C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955521-4A00-437A-BF8D-743838F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567B9B-7CE6-4920-93B6-E2FD953E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DEF-00023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C5A725-9072-4CE1-82D7-79F6774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815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E3EB0E-D96D-4106-80ED-C1F50AF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87E7B9-3084-4624-8FE4-A33A8632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910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5B3826-1FDA-4B60-9A61-EDC05372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AE709E-BC8E-43E4-BB2F-4EA6BABF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910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EC143D-2266-4E90-99DA-3B426BF0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8B2C54-3039-4111-940B-4DBEA04D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00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A10508-3B28-41B2-BDFC-868B0E3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68A8A6-8941-4D32-9253-7292DE5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FBFCF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CAD304-5E1F-4B36-A8E0-B9DD64F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06F"/>
                </a:solidFill>
              </a:defRPr>
            </a:pPr>
            <a:r>
              <a:rPr sz="975" b="1">
                <a:solidFill>
                  <a:srgbClr val="0B706F"/>
                </a:solidFill>
              </a:rPr>
              <a:t>DEF-00013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4EB2F0-8EC6-4092-B123-583B6ECE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SOLDER_COLD on PRD-00017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175F53-1417-4EAB-A8D3-E054FE7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340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SC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1EFAC0-3A79-4D5D-A1D1-A334B56F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24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D83340-492A-48E2-A732-8FF5DE12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43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8B1E9C-3751-4956-8F80-1C5E479B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244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380641-8142-4E1C-BA49-EBF4FCFE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435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3F35"/>
                </a:solidFill>
              </a:defRPr>
            </a:pPr>
            <a:r>
              <a:rPr sz="975" b="1">
                <a:solidFill>
                  <a:srgbClr val="BF3F35"/>
                </a:solidFill>
              </a:rPr>
              <a:t>Unassigned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6B64AE-161D-4911-BD8E-71F9FD6B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34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Unassigned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EE7D64-C555-4C2A-804C-442E9DA9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391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E35523-B8EC-4927-B85D-293EE0B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6F"/>
                </a:solidFill>
              </a:defRPr>
            </a:pPr>
            <a:r>
              <a:rPr sz="975" b="0">
                <a:solidFill>
                  <a:srgbClr val="52616F"/>
                </a:solidFill>
              </a:rPr>
              <a:t>Red dots mark cases where the current follow-up window has elapsed and leadership intervention may be needed.</a:t>
            </a:r>
          </a:p>
        </p:txBody>
      </p:sp>
    </p:spTree>
    <p:extLst>
      <p:ext uri="{BB962C8B-B14F-4D97-AF65-F5344CB8AC3E}">
        <p14:creationId xmlns:p14="http://schemas.microsoft.com/office/powerpoint/2010/main" val="2000481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0B9E6-D1CD-4D78-BE01-E7D92F1A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7ADAB-C431-4033-9FEC-680EE4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69FE1-21EF-4A56-A253-CD21372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Portfolio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23FCD-274F-41F7-8CDB-79AD9B89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Open-ticket load by team and 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A63ED-C525-4241-BEB6-8FDEC6D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Live backlog grouped by routing team. Priority mix highlights where executive attention may be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172F8-4FE8-40E0-99EC-AE1F4DC3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75247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8EB1D-5FC3-4EC3-BA93-CAC0EC4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3352800" cy="4514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85F08-E947-47B4-8BB5-E378EE4B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343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E5C1-A921-438F-BC72-9C2BA41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9110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5E4D3-A736-494F-BA6A-106907C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F78DD-0986-47E7-A2E6-E6A6D889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9113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20BAF-16EF-4122-A53A-0D4C309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3863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ECCC0-0A0C-473D-882F-7D2279C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67125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2EF8E-3CE0-4E44-BB3A-D523E183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27EDE-FF29-4AA3-95D0-5DFEE454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5138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9661F-EB28-4A5F-A3B7-E1C843DA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9888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0C84-BEAD-424E-AF7F-A4D6EE0B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154C2-9435-4040-814B-E69A58D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7DAEAF-DD80-43E7-A8F1-FB4F837A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61481"/>
            <a:ext cx="876300" cy="1296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9936C-CCEB-48E3-9D37-49164DA7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9BA38-CB21-4A08-BC04-7BF03D7A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5 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4A423-989E-4225-8CAE-D07CD02E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17084"/>
            <a:ext cx="876300" cy="674016"/>
          </a:xfrm>
          <a:prstGeom xmlns:a="http://schemas.openxmlformats.org/drawingml/2006/main" prst="roundRect">
            <a:avLst>
              <a:gd name="adj" fmla="val 11305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CA266-4A30-411F-9D85-E3715626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4974"/>
            <a:ext cx="876300" cy="1322109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17884-0498-4CBD-8273-AD4320FA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76500"/>
            <a:ext cx="876300" cy="518474"/>
          </a:xfrm>
          <a:prstGeom xmlns:a="http://schemas.openxmlformats.org/drawingml/2006/main" prst="roundRect">
            <a:avLst>
              <a:gd name="adj" fmla="val 14697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09E93-5CB5-4D60-B19B-AE9AFFC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3D1CB-380B-43B5-8A34-DAB57A4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97 open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B2E26-74D8-4211-A17F-9A5D9CB0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1863"/>
            <a:ext cx="876300" cy="259237"/>
          </a:xfrm>
          <a:prstGeom xmlns:a="http://schemas.openxmlformats.org/drawingml/2006/main" prst="roundRect">
            <a:avLst>
              <a:gd name="adj" fmla="val 29394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45291-B322-435B-AFCD-FDE3E1B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4855"/>
            <a:ext cx="876300" cy="337008"/>
          </a:xfrm>
          <a:prstGeom xmlns:a="http://schemas.openxmlformats.org/drawingml/2006/main" prst="roundRect">
            <a:avLst>
              <a:gd name="adj" fmla="val 22611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84FC95-34BF-44F5-815C-190D5ED5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7525"/>
            <a:ext cx="876300" cy="90733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058AE-AAFA-44E9-A23B-6DC210B5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SC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9D6CD-7E7B-449A-9A35-6155EF1F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58 open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FA010F-1CEE-4177-BB9F-1B8AB88F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8FA604-8C7D-4A70-99F9-E9191F5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6C495-7A31-48DE-AB18-802B98F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B8EE1-8521-4031-AABA-EF52E677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4FDE7D-78B7-409B-BCF1-5E0075A8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38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E6993E-44B1-4359-A87A-308A4B8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F"/>
                </a:solidFill>
              </a:defRPr>
            </a:pPr>
            <a:r>
              <a:rPr sz="900" b="1">
                <a:solidFill>
                  <a:srgbClr val="52616F"/>
                </a:solidFill>
              </a:rPr>
              <a:t>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6CABAF-A456-49D4-AE3C-BB9686C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838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3F35"/>
                </a:solidFill>
              </a:defRPr>
            </a:pPr>
            <a:r>
              <a:rPr sz="1800" b="1">
                <a:solidFill>
                  <a:srgbClr val="BF3F35"/>
                </a:solidFill>
              </a:rPr>
              <a:t>MO is carrying the heaviest backlog.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2C146D-18A8-4097-8F16-32AFBFA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F"/>
                </a:solidFill>
              </a:defRPr>
            </a:pPr>
            <a:r>
              <a:rPr sz="1125" b="0">
                <a:solidFill>
                  <a:srgbClr val="52616F"/>
                </a:solidFill>
              </a:rPr>
              <a:t>MO currently owns 97 open tickets, including 20 high-severity items and 74 overdue follow-ups. That queue scores 123 points above the peer median on the executive backlog index.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56856B-620A-46A8-BE6B-BBF88DD6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CDF322-FC77-4309-AF9B-5A0D555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50030F-1FD7-4A2F-B43F-9D1564B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5 open | 0 high | 2 overdue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C05CB-6532-4779-B371-F17E9852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0535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FB758A-FC4A-425B-9872-F18F68D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006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MO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8C5CCD-F615-4A52-BA51-132BCC0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97 open | 20 high | 74 overdue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94EFF7-7885-475C-A049-3B3EFF45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95900"/>
            <a:ext cx="283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57E324-29DA-4CD3-A508-D0D712F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911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</a:defRPr>
            </a:pPr>
            <a:r>
              <a:rPr sz="1050" b="1">
                <a:solidFill>
                  <a:srgbClr val="17212B"/>
                </a:solidFill>
              </a:rPr>
              <a:t>SC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82225D-EDCA-4CC8-8946-FD9534E3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911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58 open | 35 high | 57 overdue</a:t>
            </a:r>
          </a:p>
        </p:txBody>
      </p:sp>
    </p:spTree>
    <p:extLst>
      <p:ext uri="{BB962C8B-B14F-4D97-AF65-F5344CB8AC3E}">
        <p14:creationId xmlns:p14="http://schemas.microsoft.com/office/powerpoint/2010/main" val="16231290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B0B9E6-D1CD-4D78-BE01-E7D92F1A92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BD7C-B7ED-421D-A995-D7C563AB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solidFill>
              <a:srgbClr val="F5F7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C0B91-9A76-4E65-8FBC-77FA2CF9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06F"/>
                </a:solidFill>
              </a:defRPr>
            </a:pPr>
            <a:r>
              <a:rPr sz="1200" b="1">
                <a:solidFill>
                  <a:srgbClr val="0B706F"/>
                </a:solidFill>
              </a:rPr>
              <a:t>Big-picture updates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D5CCB-946D-40C0-9279-741A937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Trend signals for the executive narrative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91085-C19C-49B2-B873-7F587511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F"/>
                </a:solidFill>
              </a:defRPr>
            </a:pPr>
            <a:r>
              <a:rPr sz="1200" b="0">
                <a:solidFill>
                  <a:srgbClr val="52616F"/>
                </a:solidFill>
              </a:rPr>
              <a:t>A management narrative built from live portfolio signals with light historical backfill where closure data remains sparse.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AD1CD-387B-499F-A6A8-D8C884D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64770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9E06-E369-4B54-89E8-C497677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4400550" cy="45148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EFD31-2626-4046-8C4E-FC771ED5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3721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FBBCF-3CBF-4A81-BF5E-7AF933E1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679F3-943C-4103-811F-1B01BBE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5162F-1256-4D3E-A7EE-EA7D7F1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9113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397D8-8A02-479B-9454-F84D5D21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3863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55AA2-EFB9-4335-A891-881B494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266E6-5BF2-422E-A60E-B352D4C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A6531-FBED-421C-8DB7-BDC7CD7B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5138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CD798-4261-48FD-870F-6C8822E7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9888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D30DF-963D-4E4C-AE52-741175E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6"/>
          </a:solidFill>
          <a:ln xmlns:a="http://schemas.openxmlformats.org/drawingml/2006/main" w="0">
            <a:solidFill>
              <a:srgbClr val="D8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E11F8-D91F-42C4-B6B2-067D5D1F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6F"/>
                </a:solidFill>
              </a:defRPr>
            </a:pPr>
            <a:r>
              <a:rPr sz="825" b="0">
                <a:solidFill>
                  <a:srgbClr val="52616F"/>
                </a:solidFill>
              </a:rPr>
              <a:t>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2C84D-5126-4C7F-B3F1-6A1AC60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468630" cy="2514600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F3F35"/>
          </a:solidFill>
          <a:ln xmlns:a="http://schemas.openxmlformats.org/drawingml/2006/main" w="0">
            <a:solidFill>
              <a:srgbClr val="BF3F3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665D7-9771-427A-B79B-BF6216ED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Jan 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C8732-25C8-4692-9B4F-65CBF180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80" y="3460474"/>
            <a:ext cx="468630" cy="1530626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CB4B8-390C-4645-9B6A-E9ABD0F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810" y="2913822"/>
            <a:ext cx="468630" cy="2077278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B66A0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50ABF-6703-48F5-9930-55E421A6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Feb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56092-9C1F-4F49-8546-D54FA48F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225787"/>
            <a:ext cx="468630" cy="76531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82200-355B-41C8-A081-F11D43F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470" y="4335117"/>
            <a:ext cx="468630" cy="65598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9C105-4A85-464D-BCE5-9BB3CBD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Feb 23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24354-5D74-42F4-BD30-E0F6ED3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6457"/>
            <a:ext cx="468630" cy="87464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68597-9AAD-4B0A-A858-039D64FA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3460474"/>
            <a:ext cx="468630" cy="1530626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902E5-E8C9-499E-8041-C288BB0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Mar 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5250C6-21A1-4BB7-80CD-6C3A5DC5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60" y="4225787"/>
            <a:ext cx="468630" cy="76531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5AE33-82A9-494F-A464-B65CD8BD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90" y="4116457"/>
            <a:ext cx="468630" cy="87464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F7407-8806-4322-A524-EC50A868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69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Mar 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0B9FC7-DB2A-4D92-909E-958AC814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20" y="4225787"/>
            <a:ext cx="468630" cy="765313"/>
          </a:xfrm>
          <a:prstGeom xmlns:a="http://schemas.openxmlformats.org/drawingml/2006/main" prst="roundRect">
            <a:avLst>
              <a:gd name="adj" fmla="val 16260"/>
            </a:avLst>
          </a:prstGeom>
          <a:solidFill xmlns:a="http://schemas.openxmlformats.org/drawingml/2006/main">
            <a:srgbClr val="0F8E8D"/>
          </a:solidFill>
          <a:ln xmlns:a="http://schemas.openxmlformats.org/drawingml/2006/main" w="0">
            <a:solidFill>
              <a:srgbClr val="0F8E8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2347BE-6FEB-4B21-85B3-2F89E7AA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5067300"/>
            <a:ext cx="5448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2616F"/>
                </a:solidFill>
              </a:defRPr>
            </a:pPr>
            <a:r>
              <a:rPr sz="750" b="0">
                <a:solidFill>
                  <a:srgbClr val="52616F"/>
                </a:solidFill>
              </a:rPr>
              <a:t>Mar 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E939D-9112-4C46-98FB-E54CAD5D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594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F"/>
                </a:solidFill>
              </a:defRPr>
            </a:pPr>
            <a:r>
              <a:rPr sz="1050" b="0">
                <a:solidFill>
                  <a:srgbClr val="52616F"/>
                </a:solidFill>
              </a:rPr>
              <a:t>The trend highlights the December defect spike and the softer run rate visible after the supplier transition.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24B9F8-D472-4133-8723-2BCCB258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81200"/>
            <a:ext cx="3905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solidFill>
              <a:srgbClr val="EAF7F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588DA0-BC71-43D5-9D30-C88D5ED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571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8D55"/>
                </a:solidFill>
              </a:defRPr>
            </a:pPr>
            <a:r>
              <a:rPr sz="1275" b="1">
                <a:solidFill>
                  <a:srgbClr val="1A8D55"/>
                </a:solidFill>
              </a:rPr>
              <a:t>December spike has eased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1E9946-4F0C-48EE-B367-25C31FF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764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-61%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D3020-5C1E-499C-A443-1446486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622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16F"/>
                </a:solidFill>
              </a:defRPr>
            </a:pPr>
            <a:r>
              <a:rPr sz="750" b="1">
                <a:solidFill>
                  <a:srgbClr val="52616F"/>
                </a:solidFill>
              </a:rPr>
              <a:t>Peak to current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C3ADB-2C60-4099-A0B0-1B6256B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114300" bIns="0" anchor="t">
            <a:normAutofit fontScale="637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Weekly incidents peaked around Dec 1 and have since settled into a lower run rate. This gives leadership a cleaner baseline heading into the next supplier and production review. Rework activity in the briefing context is now concentrated in 2026-03-16, 2026-03-23, 2026-03-30, 2026-04-13, which supports a narrower improvement push.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6523A1-4CD9-4FEE-A17E-D1990006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3905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0">
            <a:solidFill>
              <a:srgbClr val="EAF7F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19D76D-D4DE-4E97-9336-FDCE507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57150" bIns="0" anchor="t">
            <a:normAutofit fontScale="9635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8D55"/>
                </a:solidFill>
              </a:defRPr>
            </a:pPr>
            <a:r>
              <a:rPr sz="1275" b="1">
                <a:solidFill>
                  <a:srgbClr val="1A8D55"/>
                </a:solidFill>
              </a:rPr>
              <a:t>Supplier-change signal is improving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D594B3-A25D-483F-834D-B667D65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909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-25%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8482C4-8211-4D4E-9346-FA71228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766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16F"/>
                </a:solidFill>
              </a:defRPr>
            </a:pPr>
            <a:r>
              <a:rPr sz="750" b="1">
                <a:solidFill>
                  <a:srgbClr val="52616F"/>
                </a:solidFill>
              </a:rPr>
              <a:t>Supplier-linked watchlist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263F7-7B97-4FA1-A5FC-2250C5E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114300" bIns="0" anchor="t">
            <a:normAutofit fontScale="9080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Using the current portfolio plus seeded history, supplier-linked issues are trending down versus the January baseline after the component-source change implemented roughly three months ago.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C0422-AA05-4E6E-8935-C48FB68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10100"/>
            <a:ext cx="3905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solidFill>
              <a:srgbClr val="FFF0E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2DA9FF-CCE6-4CA2-998D-AC52FEA7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24400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57150" bIns="0" anchor="t">
            <a:normAutofit fontScale="9635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3F35"/>
                </a:solidFill>
              </a:defRPr>
            </a:pPr>
            <a:r>
              <a:rPr sz="1275" b="1">
                <a:solidFill>
                  <a:srgbClr val="BF3F35"/>
                </a:solidFill>
              </a:rPr>
              <a:t>Backlog concentration needs attention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E1F940-4B68-4E8C-9025-A0144DE6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55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E208A-3892-47E7-BCB3-E8674B82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911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2616F"/>
                </a:solidFill>
              </a:defRPr>
            </a:pPr>
            <a:r>
              <a:rPr sz="750" b="1">
                <a:solidFill>
                  <a:srgbClr val="52616F"/>
                </a:solidFill>
              </a:rPr>
              <a:t>High severity open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2E82A7-EF45-4FC2-94F9-E3D793B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114300" bIns="0" anchor="t">
            <a:normAutofit fontScale="90808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</a:defRPr>
            </a:pPr>
            <a:r>
              <a:rPr sz="900" b="0">
                <a:solidFill>
                  <a:srgbClr val="17212B"/>
                </a:solidFill>
              </a:rPr>
              <a:t>MO currently owns 97 open tickets, including 20 high-severity items and 74 overdue follow-ups. That queue scores 123 points above the peer median on the executive backlog index.</a:t>
            </a:r>
          </a:p>
        </p:txBody>
      </p:sp>
    </p:spTree>
    <p:extLst>
      <p:ext uri="{BB962C8B-B14F-4D97-AF65-F5344CB8AC3E}">
        <p14:creationId xmlns:p14="http://schemas.microsoft.com/office/powerpoint/2010/main" val="1192565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2026-04-19T06:55:07.9480000Z</dcterms:created>
  <dcterms:modified xsi:type="dcterms:W3CDTF">2026-04-19T06:55:07.9480000Z</dcterms:modified>
</coreProperties>
</file>